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4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30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3.xml" ContentType="application/vnd.openxmlformats-officedocument.theme+xml"/>
  <Override PartName="/ppt/theme/theme48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5.xml" ContentType="application/vnd.openxmlformats-officedocument.theme+xml"/>
  <Override PartName="/ppt/theme/theme61.xml" ContentType="application/vnd.openxmlformats-officedocument.theme+xml"/>
  <Override PartName="/ppt/theme/theme19.xml" ContentType="application/vnd.openxmlformats-officedocument.theme+xml"/>
  <Override PartName="/ppt/theme/theme24.xml" ContentType="application/vnd.openxmlformats-officedocument.theme+xml"/>
  <Override PartName="/ppt/theme/theme59.xml" ContentType="application/vnd.openxmlformats-officedocument.theme+xml"/>
  <Override PartName="/ppt/theme/theme22.xml" ContentType="application/vnd.openxmlformats-officedocument.theme+xml"/>
  <Override PartName="/ppt/theme/theme60.xml" ContentType="application/vnd.openxmlformats-officedocument.theme+xml"/>
  <Override PartName="/ppt/theme/theme18.xml" ContentType="application/vnd.openxmlformats-officedocument.theme+xml"/>
  <Override PartName="/ppt/theme/theme23.xml" ContentType="application/vnd.openxmlformats-officedocument.theme+xml"/>
  <Override PartName="/ppt/theme/theme58.xml" ContentType="application/vnd.openxmlformats-officedocument.theme+xml"/>
  <Override PartName="/ppt/theme/theme21.xml" ContentType="application/vnd.openxmlformats-officedocument.theme+xml"/>
  <Override PartName="/ppt/theme/theme57.xml" ContentType="application/vnd.openxmlformats-officedocument.theme+xml"/>
  <Override PartName="/ppt/theme/theme20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_rels/slideLayout5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4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49.jpeg" ContentType="image/jpeg"/>
  <Override PartName="/ppt/media/image38.png" ContentType="image/png"/>
  <Override PartName="/ppt/media/image6.png" ContentType="image/png"/>
  <Override PartName="/ppt/media/image15.png" ContentType="image/png"/>
  <Override PartName="/ppt/media/image47.png" ContentType="image/png"/>
  <Override PartName="/ppt/media/image10.png" ContentType="image/png"/>
  <Override PartName="/ppt/media/image16.png" ContentType="image/png"/>
  <Override PartName="/ppt/media/image7.jpeg" ContentType="image/jpeg"/>
  <Override PartName="/ppt/media/image28.png" ContentType="image/png"/>
  <Override PartName="/ppt/media/image1.jpeg" ContentType="image/jpeg"/>
  <Override PartName="/ppt/media/image21.png" ContentType="image/png"/>
  <Override PartName="/ppt/media/image58.png" ContentType="image/png"/>
  <Override PartName="/ppt/media/image19.png" ContentType="image/png"/>
  <Override PartName="/ppt/media/image61.png" ContentType="image/png"/>
  <Override PartName="/ppt/media/image22.png" ContentType="image/png"/>
  <Override PartName="/ppt/media/image59.png" ContentType="image/png"/>
  <Override PartName="/ppt/media/image26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63.jpeg" ContentType="image/jpeg"/>
  <Override PartName="/ppt/media/image30.png" ContentType="image/png"/>
  <Override PartName="/ppt/media/image65.png" ContentType="image/png"/>
  <Override PartName="/ppt/media/image27.png" ContentType="image/png"/>
  <Override PartName="/ppt/media/image62.png" ContentType="image/png"/>
  <Override PartName="/ppt/media/image25.png" ContentType="image/png"/>
  <Override PartName="/ppt/media/image29.png" ContentType="image/png"/>
  <Override PartName="/ppt/media/image64.jpeg" ContentType="image/jpeg"/>
  <Override PartName="/ppt/media/image24.png" ContentType="image/png"/>
  <Override PartName="/ppt/media/image60.png" ContentType="image/png"/>
  <Override PartName="/ppt/media/image9.png" ContentType="image/png"/>
  <Override PartName="/ppt/media/image18.png" ContentType="image/png"/>
  <Override PartName="/ppt/media/image23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20.png" ContentType="image/png"/>
  <Override PartName="/ppt/media/image57.png" ContentType="image/png"/>
  <Override PartName="/ppt/media/image36.png" ContentType="image/png"/>
  <Override PartName="/ppt/media/image4.png" ContentType="image/png"/>
  <Override PartName="/ppt/media/image13.png" ContentType="image/png"/>
  <Override PartName="/ppt/media/image31.png" ContentType="image/png"/>
  <Override PartName="/ppt/media/image50.jpeg" ContentType="image/jpeg"/>
  <Override PartName="/ppt/media/image32.png" ContentType="image/png"/>
  <Override PartName="/ppt/media/image33.png" ContentType="image/png"/>
  <Override PartName="/ppt/media/image35.png" ContentType="image/png"/>
  <Override PartName="/ppt/media/image39.png" ContentType="image/png"/>
  <Override PartName="/ppt/media/image40.png" ContentType="image/png"/>
  <Override PartName="/ppt/media/image3.jpeg" ContentType="image/jpeg"/>
  <Override PartName="/ppt/media/image41.png" ContentType="image/png"/>
  <Override PartName="/ppt/media/image51.jpeg" ContentType="image/jpe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</p:sldMasterIdLst>
  <p:notesMasterIdLst>
    <p:notesMasterId r:id="rId62"/>
  </p:notesMasterIdLst>
  <p:sldIdLst>
    <p:sldId id="256" r:id="rId63"/>
    <p:sldId id="257" r:id="rId64"/>
    <p:sldId id="258" r:id="rId65"/>
    <p:sldId id="259" r:id="rId66"/>
    <p:sldId id="260" r:id="rId67"/>
    <p:sldId id="261" r:id="rId68"/>
    <p:sldId id="262" r:id="rId69"/>
    <p:sldId id="263" r:id="rId70"/>
    <p:sldId id="264" r:id="rId71"/>
    <p:sldId id="265" r:id="rId7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273" r:id="rId80"/>
    <p:sldId id="274" r:id="rId81"/>
    <p:sldId id="275" r:id="rId82"/>
    <p:sldId id="276" r:id="rId83"/>
    <p:sldId id="277" r:id="rId84"/>
    <p:sldId id="278" r:id="rId85"/>
    <p:sldId id="279" r:id="rId8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notesMaster" Target="notesMasters/notesMaster1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10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414FCD9-D07D-4770-8FDE-7610DB2BAD3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480" cy="4006800"/>
          </a:xfrm>
          <a:prstGeom prst="rect">
            <a:avLst/>
          </a:prstGeom>
          <a:ln w="0">
            <a:noFill/>
          </a:ln>
        </p:spPr>
      </p:sp>
      <p:sp>
        <p:nvSpPr>
          <p:cNvPr id="482" name="CustomShape 2"/>
          <p:cNvSpPr/>
          <p:nvPr/>
        </p:nvSpPr>
        <p:spPr>
          <a:xfrm>
            <a:off x="755640" y="5078520"/>
            <a:ext cx="6046920" cy="4810320"/>
          </a:xfrm>
          <a:custGeom>
            <a:avLst/>
            <a:gdLst>
              <a:gd name="textAreaLeft" fmla="*/ 0 w 6046920"/>
              <a:gd name="textAreaRight" fmla="*/ 6048000 w 6046920"/>
              <a:gd name="textAreaTop" fmla="*/ 0 h 4810320"/>
              <a:gd name="textAreaBottom" fmla="*/ 4811400 h 4810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2040" cy="4005360"/>
          </a:xfrm>
          <a:prstGeom prst="rect">
            <a:avLst/>
          </a:prstGeom>
          <a:ln w="0">
            <a:noFill/>
          </a:ln>
        </p:spPr>
      </p:sp>
      <p:sp>
        <p:nvSpPr>
          <p:cNvPr id="484" name="CustomShape 2"/>
          <p:cNvSpPr/>
          <p:nvPr/>
        </p:nvSpPr>
        <p:spPr>
          <a:xfrm>
            <a:off x="755640" y="5078520"/>
            <a:ext cx="6045480" cy="4808520"/>
          </a:xfrm>
          <a:custGeom>
            <a:avLst/>
            <a:gdLst>
              <a:gd name="textAreaLeft" fmla="*/ 0 w 6045480"/>
              <a:gd name="textAreaRight" fmla="*/ 6046560 w 6045480"/>
              <a:gd name="textAreaTop" fmla="*/ 0 h 4808520"/>
              <a:gd name="textAreaBottom" fmla="*/ 4809600 h 4808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27640" cy="3990960"/>
          </a:xfrm>
          <a:prstGeom prst="rect">
            <a:avLst/>
          </a:prstGeom>
          <a:ln w="0">
            <a:noFill/>
          </a:ln>
        </p:spPr>
      </p:sp>
      <p:sp>
        <p:nvSpPr>
          <p:cNvPr id="486" name="CustomShape 2"/>
          <p:cNvSpPr/>
          <p:nvPr/>
        </p:nvSpPr>
        <p:spPr>
          <a:xfrm>
            <a:off x="755640" y="5078520"/>
            <a:ext cx="6031080" cy="4794120"/>
          </a:xfrm>
          <a:custGeom>
            <a:avLst/>
            <a:gdLst>
              <a:gd name="textAreaLeft" fmla="*/ 0 w 6031080"/>
              <a:gd name="textAreaRight" fmla="*/ 6032160 w 6031080"/>
              <a:gd name="textAreaTop" fmla="*/ 0 h 4794120"/>
              <a:gd name="textAreaBottom" fmla="*/ 4795200 h 4794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10360" cy="3973680"/>
          </a:xfrm>
          <a:prstGeom prst="rect">
            <a:avLst/>
          </a:prstGeom>
          <a:ln w="0">
            <a:noFill/>
          </a:ln>
        </p:spPr>
      </p:sp>
      <p:sp>
        <p:nvSpPr>
          <p:cNvPr id="488" name="CustomShape 2"/>
          <p:cNvSpPr/>
          <p:nvPr/>
        </p:nvSpPr>
        <p:spPr>
          <a:xfrm>
            <a:off x="755640" y="5078520"/>
            <a:ext cx="6013440" cy="4776840"/>
          </a:xfrm>
          <a:custGeom>
            <a:avLst/>
            <a:gdLst>
              <a:gd name="textAreaLeft" fmla="*/ 0 w 6013440"/>
              <a:gd name="textAreaRight" fmla="*/ 6014520 w 6013440"/>
              <a:gd name="textAreaTop" fmla="*/ 0 h 4776840"/>
              <a:gd name="textAreaBottom" fmla="*/ 4777920 h 4776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22960" cy="3986280"/>
          </a:xfrm>
          <a:prstGeom prst="rect">
            <a:avLst/>
          </a:prstGeom>
          <a:ln w="0">
            <a:noFill/>
          </a:ln>
        </p:spPr>
      </p:sp>
      <p:sp>
        <p:nvSpPr>
          <p:cNvPr id="490" name="CustomShape 2"/>
          <p:cNvSpPr/>
          <p:nvPr/>
        </p:nvSpPr>
        <p:spPr>
          <a:xfrm>
            <a:off x="755640" y="5078520"/>
            <a:ext cx="6026400" cy="4789440"/>
          </a:xfrm>
          <a:custGeom>
            <a:avLst/>
            <a:gdLst>
              <a:gd name="textAreaLeft" fmla="*/ 0 w 6026400"/>
              <a:gd name="textAreaRight" fmla="*/ 6027480 w 6026400"/>
              <a:gd name="textAreaTop" fmla="*/ 0 h 4789440"/>
              <a:gd name="textAreaBottom" fmla="*/ 4790520 h 4789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267160" cy="3930840"/>
          </a:xfrm>
          <a:prstGeom prst="rect">
            <a:avLst/>
          </a:prstGeom>
          <a:ln w="0">
            <a:noFill/>
          </a:ln>
        </p:spPr>
      </p:sp>
      <p:sp>
        <p:nvSpPr>
          <p:cNvPr id="492" name="CustomShape 2"/>
          <p:cNvSpPr/>
          <p:nvPr/>
        </p:nvSpPr>
        <p:spPr>
          <a:xfrm>
            <a:off x="755640" y="5078520"/>
            <a:ext cx="5970600" cy="4734000"/>
          </a:xfrm>
          <a:custGeom>
            <a:avLst/>
            <a:gdLst>
              <a:gd name="textAreaLeft" fmla="*/ 0 w 5970600"/>
              <a:gd name="textAreaRight" fmla="*/ 5971680 w 5970600"/>
              <a:gd name="textAreaTop" fmla="*/ 0 h 4734000"/>
              <a:gd name="textAreaBottom" fmla="*/ 4735080 h 473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272200" cy="3935520"/>
          </a:xfrm>
          <a:prstGeom prst="rect">
            <a:avLst/>
          </a:prstGeom>
          <a:ln w="0">
            <a:noFill/>
          </a:ln>
        </p:spPr>
      </p:sp>
      <p:sp>
        <p:nvSpPr>
          <p:cNvPr id="494" name="CustomShape 2"/>
          <p:cNvSpPr/>
          <p:nvPr/>
        </p:nvSpPr>
        <p:spPr>
          <a:xfrm>
            <a:off x="755640" y="5078520"/>
            <a:ext cx="5975640" cy="4738680"/>
          </a:xfrm>
          <a:custGeom>
            <a:avLst/>
            <a:gdLst>
              <a:gd name="textAreaLeft" fmla="*/ 0 w 5975640"/>
              <a:gd name="textAreaRight" fmla="*/ 5976720 w 5975640"/>
              <a:gd name="textAreaTop" fmla="*/ 0 h 4738680"/>
              <a:gd name="textAreaBottom" fmla="*/ 4739760 h 4738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272200" cy="3935520"/>
          </a:xfrm>
          <a:prstGeom prst="rect">
            <a:avLst/>
          </a:prstGeom>
          <a:ln w="0">
            <a:noFill/>
          </a:ln>
        </p:spPr>
      </p:sp>
      <p:sp>
        <p:nvSpPr>
          <p:cNvPr id="496" name="CustomShape 2"/>
          <p:cNvSpPr/>
          <p:nvPr/>
        </p:nvSpPr>
        <p:spPr>
          <a:xfrm>
            <a:off x="755640" y="5078520"/>
            <a:ext cx="5975640" cy="4738680"/>
          </a:xfrm>
          <a:custGeom>
            <a:avLst/>
            <a:gdLst>
              <a:gd name="textAreaLeft" fmla="*/ 0 w 5975640"/>
              <a:gd name="textAreaRight" fmla="*/ 5976720 w 5975640"/>
              <a:gd name="textAreaTop" fmla="*/ 0 h 4738680"/>
              <a:gd name="textAreaBottom" fmla="*/ 4739760 h 4738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1106280" y="812520"/>
            <a:ext cx="5307840" cy="3971520"/>
          </a:xfrm>
          <a:prstGeom prst="rect">
            <a:avLst/>
          </a:prstGeom>
          <a:ln w="0">
            <a:noFill/>
          </a:ln>
        </p:spPr>
      </p:sp>
      <p:sp>
        <p:nvSpPr>
          <p:cNvPr id="498" name="CustomShape 2"/>
          <p:cNvSpPr/>
          <p:nvPr/>
        </p:nvSpPr>
        <p:spPr>
          <a:xfrm>
            <a:off x="755640" y="5078520"/>
            <a:ext cx="6011280" cy="4774680"/>
          </a:xfrm>
          <a:custGeom>
            <a:avLst/>
            <a:gdLst>
              <a:gd name="textAreaLeft" fmla="*/ 0 w 6011280"/>
              <a:gd name="textAreaRight" fmla="*/ 6012360 w 6011280"/>
              <a:gd name="textAreaTop" fmla="*/ 0 h 4774680"/>
              <a:gd name="textAreaBottom" fmla="*/ 4775760 h 477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4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slideLayout" Target="../slideLayouts/slideLayout17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slideLayout" Target="../slideLayouts/slideLayout17.xml"/><Relationship Id="rId8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1.jpe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4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slideLayout" Target="../slideLayouts/slideLayout17.xml"/><Relationship Id="rId8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2.png"/><Relationship Id="rId9" Type="http://schemas.openxmlformats.org/officeDocument/2006/relationships/image" Target="../media/image3.jpeg"/><Relationship Id="rId10" Type="http://schemas.openxmlformats.org/officeDocument/2006/relationships/slideLayout" Target="../slideLayouts/slideLayout17.xml"/><Relationship Id="rId11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2.png"/><Relationship Id="rId7" Type="http://schemas.openxmlformats.org/officeDocument/2006/relationships/image" Target="../media/image3.jpeg"/><Relationship Id="rId8" Type="http://schemas.openxmlformats.org/officeDocument/2006/relationships/slideLayout" Target="../slideLayouts/slideLayout17.xml"/><Relationship Id="rId9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jpeg"/><Relationship Id="rId3" Type="http://schemas.openxmlformats.org/officeDocument/2006/relationships/image" Target="../media/image50.jpeg"/><Relationship Id="rId4" Type="http://schemas.openxmlformats.org/officeDocument/2006/relationships/image" Target="../media/image51.jpeg"/><Relationship Id="rId5" Type="http://schemas.openxmlformats.org/officeDocument/2006/relationships/image" Target="../media/image3.jpeg"/><Relationship Id="rId6" Type="http://schemas.openxmlformats.org/officeDocument/2006/relationships/image" Target="../media/image52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53.xml"/><Relationship Id="rId9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slideLayout" Target="../slideLayouts/slideLayout5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61.png"/><Relationship Id="rId7" Type="http://schemas.openxmlformats.org/officeDocument/2006/relationships/image" Target="../media/image61.png"/><Relationship Id="rId8" Type="http://schemas.openxmlformats.org/officeDocument/2006/relationships/slideLayout" Target="../slideLayouts/slideLayout5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jpeg"/><Relationship Id="rId3" Type="http://schemas.openxmlformats.org/officeDocument/2006/relationships/image" Target="../media/image64.jpeg"/><Relationship Id="rId4" Type="http://schemas.openxmlformats.org/officeDocument/2006/relationships/image" Target="../media/image65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1071000" y="1573560"/>
            <a:ext cx="7290360" cy="3760200"/>
          </a:xfrm>
          <a:prstGeom prst="rect">
            <a:avLst/>
          </a:prstGeom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2"/>
          <a:stretch/>
        </p:blipFill>
        <p:spPr>
          <a:xfrm>
            <a:off x="58680" y="10548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296" name="" descr=""/>
          <p:cNvPicPr/>
          <p:nvPr/>
        </p:nvPicPr>
        <p:blipFill>
          <a:blip r:embed="rId3"/>
          <a:stretch/>
        </p:blipFill>
        <p:spPr>
          <a:xfrm>
            <a:off x="8138160" y="83160"/>
            <a:ext cx="1918800" cy="534960"/>
          </a:xfrm>
          <a:prstGeom prst="rect">
            <a:avLst/>
          </a:prstGeom>
          <a:ln w="0">
            <a:noFill/>
          </a:ln>
        </p:spPr>
      </p:pic>
      <p:sp>
        <p:nvSpPr>
          <p:cNvPr id="297" name="CustomShape 2"/>
          <p:cNvSpPr/>
          <p:nvPr/>
        </p:nvSpPr>
        <p:spPr>
          <a:xfrm>
            <a:off x="7240320" y="5397480"/>
            <a:ext cx="2940120" cy="271440"/>
          </a:xfrm>
          <a:custGeom>
            <a:avLst/>
            <a:gdLst>
              <a:gd name="textAreaLeft" fmla="*/ 0 w 2940120"/>
              <a:gd name="textAreaRight" fmla="*/ 2941200 w 2940120"/>
              <a:gd name="textAreaTop" fmla="*/ 0 h 271440"/>
              <a:gd name="textAreaBottom" fmla="*/ 272520 h 271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Image adapted from Kelsey et al., Science 2017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501200" y="560520"/>
            <a:ext cx="697140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84600" bIns="45000" anchor="t">
            <a:noAutofit/>
          </a:bodyPr>
          <a:p>
            <a:pPr algn="ctr">
              <a:lnSpc>
                <a:spcPct val="87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Artificial Neural Networks for MultiOmics Integration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Physalia course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MRG Group Leader, NIRI, Riga, Latvia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8510040" y="2316600"/>
            <a:ext cx="13435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@NikolayOskolkov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" descr=""/>
          <p:cNvPicPr/>
          <p:nvPr/>
        </p:nvPicPr>
        <p:blipFill>
          <a:blip r:embed="rId4"/>
          <a:srcRect l="58381" t="18655" r="0" b="20725"/>
          <a:stretch/>
        </p:blipFill>
        <p:spPr>
          <a:xfrm>
            <a:off x="9236880" y="1665720"/>
            <a:ext cx="778680" cy="637200"/>
          </a:xfrm>
          <a:prstGeom prst="rect">
            <a:avLst/>
          </a:prstGeom>
          <a:ln w="0">
            <a:noFill/>
          </a:ln>
        </p:spPr>
      </p:pic>
      <p:sp>
        <p:nvSpPr>
          <p:cNvPr id="301" name=""/>
          <p:cNvSpPr/>
          <p:nvPr/>
        </p:nvSpPr>
        <p:spPr>
          <a:xfrm>
            <a:off x="8340120" y="4961520"/>
            <a:ext cx="176580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Personal homepage: 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https://nikolay-oskolkov.com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" descr=""/>
          <p:cNvPicPr/>
          <p:nvPr/>
        </p:nvPicPr>
        <p:blipFill>
          <a:blip r:embed="rId5"/>
          <a:srcRect l="11567" t="14531" r="7772" b="12490"/>
          <a:stretch/>
        </p:blipFill>
        <p:spPr>
          <a:xfrm>
            <a:off x="8727480" y="4021920"/>
            <a:ext cx="1003680" cy="908640"/>
          </a:xfrm>
          <a:prstGeom prst="rect">
            <a:avLst/>
          </a:prstGeom>
          <a:ln w="0">
            <a:noFill/>
          </a:ln>
        </p:spPr>
      </p:pic>
      <p:sp>
        <p:nvSpPr>
          <p:cNvPr id="303" name=""/>
          <p:cNvSpPr/>
          <p:nvPr/>
        </p:nvSpPr>
        <p:spPr>
          <a:xfrm>
            <a:off x="8411400" y="3579120"/>
            <a:ext cx="16088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@oskolkov.bsky.social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6"/>
          <a:stretch/>
        </p:blipFill>
        <p:spPr>
          <a:xfrm>
            <a:off x="8778240" y="2673720"/>
            <a:ext cx="910080" cy="898920"/>
          </a:xfrm>
          <a:prstGeom prst="rect">
            <a:avLst/>
          </a:prstGeom>
          <a:ln w="0">
            <a:noFill/>
          </a:ln>
        </p:spPr>
      </p:pic>
      <p:pic>
        <p:nvPicPr>
          <p:cNvPr id="305" name="" descr=""/>
          <p:cNvPicPr/>
          <p:nvPr/>
        </p:nvPicPr>
        <p:blipFill>
          <a:blip r:embed="rId7"/>
          <a:srcRect l="0" t="18655" r="56175" b="20725"/>
          <a:stretch/>
        </p:blipFill>
        <p:spPr>
          <a:xfrm>
            <a:off x="8355960" y="1665720"/>
            <a:ext cx="819720" cy="63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1716480" y="48960"/>
            <a:ext cx="6118560" cy="344160"/>
          </a:xfrm>
          <a:custGeom>
            <a:avLst/>
            <a:gdLst>
              <a:gd name="textAreaLeft" fmla="*/ 0 w 6118560"/>
              <a:gd name="textAreaRight" fmla="*/ 6119640 w 6118560"/>
              <a:gd name="textAreaTop" fmla="*/ 0 h 344160"/>
              <a:gd name="textAreaBottom" fmla="*/ 345240 h 344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Challenges of Deep Learning in Life Sciences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1"/>
          <a:stretch/>
        </p:blipFill>
        <p:spPr>
          <a:xfrm>
            <a:off x="2791800" y="2194560"/>
            <a:ext cx="4402440" cy="2233440"/>
          </a:xfrm>
          <a:prstGeom prst="rect">
            <a:avLst/>
          </a:prstGeom>
          <a:ln w="0">
            <a:noFill/>
          </a:ln>
        </p:spPr>
      </p:pic>
      <p:sp>
        <p:nvSpPr>
          <p:cNvPr id="308" name="CustomShape 2"/>
          <p:cNvSpPr/>
          <p:nvPr/>
        </p:nvSpPr>
        <p:spPr>
          <a:xfrm>
            <a:off x="1530360" y="673200"/>
            <a:ext cx="6678720" cy="1428480"/>
          </a:xfrm>
          <a:custGeom>
            <a:avLst/>
            <a:gdLst>
              <a:gd name="textAreaLeft" fmla="*/ 0 w 6678720"/>
              <a:gd name="textAreaRight" fmla="*/ 6679800 w 6678720"/>
              <a:gd name="textAreaTop" fmla="*/ 0 h 1428480"/>
              <a:gd name="textAreaBottom" fmla="*/ 1429560 h 1428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Difficult to apply to real Life Science projects (NGS: tabular data)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Lack of data in Life Sciences (exceptions: single cell, microscopy)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Simpler (than Deep Learning) methods often perform better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" descr=""/>
          <p:cNvPicPr/>
          <p:nvPr/>
        </p:nvPicPr>
        <p:blipFill>
          <a:blip r:embed="rId2"/>
          <a:stretch/>
        </p:blipFill>
        <p:spPr>
          <a:xfrm>
            <a:off x="58680" y="105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10" name="" descr=""/>
          <p:cNvPicPr/>
          <p:nvPr/>
        </p:nvPicPr>
        <p:blipFill>
          <a:blip r:embed="rId3"/>
          <a:stretch/>
        </p:blipFill>
        <p:spPr>
          <a:xfrm>
            <a:off x="8138160" y="46800"/>
            <a:ext cx="1918800" cy="534960"/>
          </a:xfrm>
          <a:prstGeom prst="rect">
            <a:avLst/>
          </a:prstGeom>
          <a:ln w="0">
            <a:noFill/>
          </a:ln>
        </p:spPr>
      </p:pic>
      <p:grpSp>
        <p:nvGrpSpPr>
          <p:cNvPr id="311" name="Group 3"/>
          <p:cNvGrpSpPr/>
          <p:nvPr/>
        </p:nvGrpSpPr>
        <p:grpSpPr>
          <a:xfrm>
            <a:off x="191520" y="4311360"/>
            <a:ext cx="7709760" cy="1343160"/>
            <a:chOff x="191520" y="4311360"/>
            <a:chExt cx="7709760" cy="1343160"/>
          </a:xfrm>
        </p:grpSpPr>
        <p:sp>
          <p:nvSpPr>
            <p:cNvPr id="312" name="CustomShape 4"/>
            <p:cNvSpPr/>
            <p:nvPr/>
          </p:nvSpPr>
          <p:spPr>
            <a:xfrm>
              <a:off x="2237400" y="4744080"/>
              <a:ext cx="5663880" cy="361440"/>
            </a:xfrm>
            <a:custGeom>
              <a:avLst/>
              <a:gdLst>
                <a:gd name="textAreaLeft" fmla="*/ 0 w 5663880"/>
                <a:gd name="textAreaRight" fmla="*/ 5664960 w 5663880"/>
                <a:gd name="textAreaTop" fmla="*/ 0 h 361440"/>
                <a:gd name="textAreaBottom" fmla="*/ 362520 h 361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2400" spc="-1" strike="noStrike">
                  <a:solidFill>
                    <a:srgbClr val="ff0000"/>
                  </a:solidFill>
                  <a:latin typeface="Arial"/>
                  <a:ea typeface="DejaVu Sans"/>
                </a:rPr>
                <a:t>Why don’t neural networks always work?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13" name="" descr=""/>
            <p:cNvPicPr/>
            <p:nvPr/>
          </p:nvPicPr>
          <p:blipFill>
            <a:blip r:embed="rId4"/>
            <a:stretch/>
          </p:blipFill>
          <p:spPr>
            <a:xfrm>
              <a:off x="1268640" y="4311360"/>
              <a:ext cx="956520" cy="108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4" name="CustomShape 5"/>
            <p:cNvSpPr/>
            <p:nvPr/>
          </p:nvSpPr>
          <p:spPr>
            <a:xfrm>
              <a:off x="191520" y="5394960"/>
              <a:ext cx="3202920" cy="25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Geoffrey Hinton: Nobel prize in physics 2024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58680" y="10476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16" name="" descr=""/>
          <p:cNvPicPr/>
          <p:nvPr/>
        </p:nvPicPr>
        <p:blipFill>
          <a:blip r:embed="rId2"/>
          <a:stretch/>
        </p:blipFill>
        <p:spPr>
          <a:xfrm>
            <a:off x="8138160" y="82440"/>
            <a:ext cx="1918800" cy="534960"/>
          </a:xfrm>
          <a:prstGeom prst="rect">
            <a:avLst/>
          </a:prstGeom>
          <a:ln w="0">
            <a:noFill/>
          </a:ln>
        </p:spPr>
      </p:pic>
      <p:pic>
        <p:nvPicPr>
          <p:cNvPr id="317" name="" descr=""/>
          <p:cNvPicPr/>
          <p:nvPr/>
        </p:nvPicPr>
        <p:blipFill>
          <a:blip r:embed="rId3"/>
          <a:srcRect l="4776" t="16402" r="48000" b="14373"/>
          <a:stretch/>
        </p:blipFill>
        <p:spPr>
          <a:xfrm>
            <a:off x="34920" y="825840"/>
            <a:ext cx="5358600" cy="4417560"/>
          </a:xfrm>
          <a:prstGeom prst="rect">
            <a:avLst/>
          </a:prstGeom>
          <a:ln w="0">
            <a:noFill/>
          </a:ln>
        </p:spPr>
      </p:pic>
      <p:sp>
        <p:nvSpPr>
          <p:cNvPr id="318" name="CustomShape 1"/>
          <p:cNvSpPr/>
          <p:nvPr/>
        </p:nvSpPr>
        <p:spPr>
          <a:xfrm>
            <a:off x="1404360" y="73440"/>
            <a:ext cx="6744240" cy="455760"/>
          </a:xfrm>
          <a:custGeom>
            <a:avLst/>
            <a:gdLst>
              <a:gd name="textAreaLeft" fmla="*/ 0 w 6744240"/>
              <a:gd name="textAreaRight" fmla="*/ 6745320 w 674424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Artificial Neural Networks: general principles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4"/>
          <a:srcRect l="54372" t="16402" r="7004" b="14373"/>
          <a:stretch/>
        </p:blipFill>
        <p:spPr>
          <a:xfrm>
            <a:off x="5669280" y="825840"/>
            <a:ext cx="4381920" cy="441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" descr=""/>
          <p:cNvPicPr/>
          <p:nvPr/>
        </p:nvPicPr>
        <p:blipFill>
          <a:blip r:embed="rId1"/>
          <a:stretch/>
        </p:blipFill>
        <p:spPr>
          <a:xfrm>
            <a:off x="58680" y="10476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21" name="" descr=""/>
          <p:cNvPicPr/>
          <p:nvPr/>
        </p:nvPicPr>
        <p:blipFill>
          <a:blip r:embed="rId2"/>
          <a:stretch/>
        </p:blipFill>
        <p:spPr>
          <a:xfrm>
            <a:off x="8138160" y="82440"/>
            <a:ext cx="1918800" cy="534960"/>
          </a:xfrm>
          <a:prstGeom prst="rect">
            <a:avLst/>
          </a:prstGeom>
          <a:ln w="0">
            <a:noFill/>
          </a:ln>
        </p:spPr>
      </p:pic>
      <p:pic>
        <p:nvPicPr>
          <p:cNvPr id="322" name="" descr=""/>
          <p:cNvPicPr/>
          <p:nvPr/>
        </p:nvPicPr>
        <p:blipFill>
          <a:blip r:embed="rId3"/>
          <a:srcRect l="5211" t="19304" r="8663" b="8063"/>
          <a:stretch/>
        </p:blipFill>
        <p:spPr>
          <a:xfrm>
            <a:off x="96840" y="878400"/>
            <a:ext cx="9895680" cy="4691880"/>
          </a:xfrm>
          <a:prstGeom prst="rect">
            <a:avLst/>
          </a:prstGeom>
          <a:ln w="0">
            <a:noFill/>
          </a:ln>
        </p:spPr>
      </p:pic>
      <p:sp>
        <p:nvSpPr>
          <p:cNvPr id="323" name="CustomShape 1"/>
          <p:cNvSpPr/>
          <p:nvPr/>
        </p:nvSpPr>
        <p:spPr>
          <a:xfrm>
            <a:off x="1728360" y="37440"/>
            <a:ext cx="6159600" cy="455760"/>
          </a:xfrm>
          <a:custGeom>
            <a:avLst/>
            <a:gdLst>
              <a:gd name="textAreaLeft" fmla="*/ 0 w 6159600"/>
              <a:gd name="textAreaRight" fmla="*/ 6160680 w 615960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Gradient descent: backward propagation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" descr=""/>
          <p:cNvPicPr/>
          <p:nvPr/>
        </p:nvPicPr>
        <p:blipFill>
          <a:blip r:embed="rId1"/>
          <a:stretch/>
        </p:blipFill>
        <p:spPr>
          <a:xfrm>
            <a:off x="58680" y="10476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25" name="" descr=""/>
          <p:cNvPicPr/>
          <p:nvPr/>
        </p:nvPicPr>
        <p:blipFill>
          <a:blip r:embed="rId2"/>
          <a:stretch/>
        </p:blipFill>
        <p:spPr>
          <a:xfrm>
            <a:off x="8138160" y="82440"/>
            <a:ext cx="1918800" cy="534960"/>
          </a:xfrm>
          <a:prstGeom prst="rect">
            <a:avLst/>
          </a:prstGeom>
          <a:ln w="0">
            <a:noFill/>
          </a:ln>
        </p:spPr>
      </p:pic>
      <p:pic>
        <p:nvPicPr>
          <p:cNvPr id="326" name="" descr=""/>
          <p:cNvPicPr/>
          <p:nvPr/>
        </p:nvPicPr>
        <p:blipFill>
          <a:blip r:embed="rId3"/>
          <a:srcRect l="4577" t="15675" r="4935" b="3283"/>
          <a:stretch/>
        </p:blipFill>
        <p:spPr>
          <a:xfrm>
            <a:off x="113760" y="640080"/>
            <a:ext cx="9903960" cy="4987800"/>
          </a:xfrm>
          <a:prstGeom prst="rect">
            <a:avLst/>
          </a:prstGeom>
          <a:ln w="0">
            <a:noFill/>
          </a:ln>
        </p:spPr>
      </p:pic>
      <p:sp>
        <p:nvSpPr>
          <p:cNvPr id="327" name="CustomShape 1"/>
          <p:cNvSpPr/>
          <p:nvPr/>
        </p:nvSpPr>
        <p:spPr>
          <a:xfrm>
            <a:off x="1512360" y="37440"/>
            <a:ext cx="6525360" cy="455760"/>
          </a:xfrm>
          <a:custGeom>
            <a:avLst/>
            <a:gdLst>
              <a:gd name="textAreaLeft" fmla="*/ 0 w 6525360"/>
              <a:gd name="textAreaRight" fmla="*/ 6526440 w 652536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Coding gradient descent from scratch in 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58680" y="10476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29" name="" descr=""/>
          <p:cNvPicPr/>
          <p:nvPr/>
        </p:nvPicPr>
        <p:blipFill>
          <a:blip r:embed="rId2"/>
          <a:stretch/>
        </p:blipFill>
        <p:spPr>
          <a:xfrm>
            <a:off x="8138160" y="82440"/>
            <a:ext cx="1918800" cy="534960"/>
          </a:xfrm>
          <a:prstGeom prst="rect">
            <a:avLst/>
          </a:prstGeom>
          <a:ln w="0">
            <a:noFill/>
          </a:ln>
        </p:spPr>
      </p:pic>
      <p:pic>
        <p:nvPicPr>
          <p:cNvPr id="330" name="" descr=""/>
          <p:cNvPicPr/>
          <p:nvPr/>
        </p:nvPicPr>
        <p:blipFill>
          <a:blip r:embed="rId3"/>
          <a:srcRect l="4736" t="18198" r="10396" b="6506"/>
          <a:stretch/>
        </p:blipFill>
        <p:spPr>
          <a:xfrm>
            <a:off x="33480" y="640080"/>
            <a:ext cx="9995040" cy="4985640"/>
          </a:xfrm>
          <a:prstGeom prst="rect">
            <a:avLst/>
          </a:prstGeom>
          <a:ln w="0">
            <a:noFill/>
          </a:ln>
        </p:spPr>
      </p:pic>
      <p:sp>
        <p:nvSpPr>
          <p:cNvPr id="331" name="CustomShape 1"/>
          <p:cNvSpPr/>
          <p:nvPr/>
        </p:nvSpPr>
        <p:spPr>
          <a:xfrm>
            <a:off x="1944360" y="37440"/>
            <a:ext cx="5885280" cy="455760"/>
          </a:xfrm>
          <a:custGeom>
            <a:avLst/>
            <a:gdLst>
              <a:gd name="textAreaLeft" fmla="*/ 0 w 5885280"/>
              <a:gd name="textAreaRight" fmla="*/ 5886360 w 588528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ANN from scratch: problem formulation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" descr=""/>
          <p:cNvPicPr/>
          <p:nvPr/>
        </p:nvPicPr>
        <p:blipFill>
          <a:blip r:embed="rId1"/>
          <a:stretch/>
        </p:blipFill>
        <p:spPr>
          <a:xfrm>
            <a:off x="58680" y="10476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33" name="" descr=""/>
          <p:cNvPicPr/>
          <p:nvPr/>
        </p:nvPicPr>
        <p:blipFill>
          <a:blip r:embed="rId2"/>
          <a:stretch/>
        </p:blipFill>
        <p:spPr>
          <a:xfrm>
            <a:off x="8138160" y="82440"/>
            <a:ext cx="1918800" cy="534960"/>
          </a:xfrm>
          <a:prstGeom prst="rect">
            <a:avLst/>
          </a:prstGeom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3"/>
          <a:srcRect l="4593" t="15759" r="4898" b="4567"/>
          <a:stretch/>
        </p:blipFill>
        <p:spPr>
          <a:xfrm>
            <a:off x="19440" y="641520"/>
            <a:ext cx="9995400" cy="4948200"/>
          </a:xfrm>
          <a:prstGeom prst="rect">
            <a:avLst/>
          </a:prstGeom>
          <a:ln w="0">
            <a:noFill/>
          </a:ln>
        </p:spPr>
      </p:pic>
      <p:sp>
        <p:nvSpPr>
          <p:cNvPr id="335" name="CustomShape 1"/>
          <p:cNvSpPr/>
          <p:nvPr/>
        </p:nvSpPr>
        <p:spPr>
          <a:xfrm>
            <a:off x="2160360" y="37440"/>
            <a:ext cx="5256360" cy="45576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Coding ANN from scratch in 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ustomShape 1"/>
          <p:cNvSpPr/>
          <p:nvPr/>
        </p:nvSpPr>
        <p:spPr>
          <a:xfrm>
            <a:off x="1447560" y="61920"/>
            <a:ext cx="6613200" cy="343080"/>
          </a:xfrm>
          <a:custGeom>
            <a:avLst/>
            <a:gdLst>
              <a:gd name="textAreaLeft" fmla="*/ 0 w 6613200"/>
              <a:gd name="textAreaRight" fmla="*/ 6614280 w 6613200"/>
              <a:gd name="textAreaTop" fmla="*/ 0 h 343080"/>
              <a:gd name="textAreaBottom" fmla="*/ 344160 h 3430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Supervised deep learning Omics integration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2030760" y="989280"/>
            <a:ext cx="7493400" cy="4421880"/>
          </a:xfrm>
          <a:prstGeom prst="rect">
            <a:avLst/>
          </a:prstGeom>
          <a:ln w="0">
            <a:noFill/>
          </a:ln>
        </p:spPr>
      </p:pic>
      <p:sp>
        <p:nvSpPr>
          <p:cNvPr id="338" name="CustomShape 2"/>
          <p:cNvSpPr/>
          <p:nvPr/>
        </p:nvSpPr>
        <p:spPr>
          <a:xfrm>
            <a:off x="2437200" y="728280"/>
            <a:ext cx="902160" cy="258480"/>
          </a:xfrm>
          <a:custGeom>
            <a:avLst/>
            <a:gdLst>
              <a:gd name="textAreaLeft" fmla="*/ 0 w 902160"/>
              <a:gd name="textAreaRight" fmla="*/ 903240 w 902160"/>
              <a:gd name="textAreaTop" fmla="*/ 0 h 258480"/>
              <a:gd name="textAreaBottom" fmla="*/ 259560 h 258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OMIC1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ustomShape 3"/>
          <p:cNvSpPr/>
          <p:nvPr/>
        </p:nvSpPr>
        <p:spPr>
          <a:xfrm>
            <a:off x="8198280" y="729720"/>
            <a:ext cx="902160" cy="258120"/>
          </a:xfrm>
          <a:custGeom>
            <a:avLst/>
            <a:gdLst>
              <a:gd name="textAreaLeft" fmla="*/ 0 w 902160"/>
              <a:gd name="textAreaRight" fmla="*/ 903240 w 902160"/>
              <a:gd name="textAreaTop" fmla="*/ 0 h 258120"/>
              <a:gd name="textAreaBottom" fmla="*/ 259200 h 258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OMIC3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4"/>
          <p:cNvSpPr/>
          <p:nvPr/>
        </p:nvSpPr>
        <p:spPr>
          <a:xfrm>
            <a:off x="4381920" y="729720"/>
            <a:ext cx="902160" cy="258120"/>
          </a:xfrm>
          <a:custGeom>
            <a:avLst/>
            <a:gdLst>
              <a:gd name="textAreaLeft" fmla="*/ 0 w 902160"/>
              <a:gd name="textAreaRight" fmla="*/ 903240 w 902160"/>
              <a:gd name="textAreaTop" fmla="*/ 0 h 258120"/>
              <a:gd name="textAreaBottom" fmla="*/ 259200 h 258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OMIC2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5"/>
          <p:cNvSpPr/>
          <p:nvPr/>
        </p:nvSpPr>
        <p:spPr>
          <a:xfrm>
            <a:off x="6289920" y="729720"/>
            <a:ext cx="902520" cy="258120"/>
          </a:xfrm>
          <a:custGeom>
            <a:avLst/>
            <a:gdLst>
              <a:gd name="textAreaLeft" fmla="*/ 0 w 902520"/>
              <a:gd name="textAreaRight" fmla="*/ 903600 w 902520"/>
              <a:gd name="textAreaTop" fmla="*/ 0 h 258120"/>
              <a:gd name="textAreaBottom" fmla="*/ 259200 h 258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OMIC3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6"/>
          <p:cNvSpPr/>
          <p:nvPr/>
        </p:nvSpPr>
        <p:spPr>
          <a:xfrm>
            <a:off x="238320" y="1717920"/>
            <a:ext cx="1753200" cy="258480"/>
          </a:xfrm>
          <a:custGeom>
            <a:avLst/>
            <a:gdLst>
              <a:gd name="textAreaLeft" fmla="*/ 0 w 1753200"/>
              <a:gd name="textAreaRight" fmla="*/ 1754280 w 1753200"/>
              <a:gd name="textAreaTop" fmla="*/ 0 h 258480"/>
              <a:gd name="textAreaBottom" fmla="*/ 259560 h 258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Regularization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ustomShape 7"/>
          <p:cNvSpPr/>
          <p:nvPr/>
        </p:nvSpPr>
        <p:spPr>
          <a:xfrm>
            <a:off x="275040" y="2392920"/>
            <a:ext cx="1829160" cy="644040"/>
          </a:xfrm>
          <a:custGeom>
            <a:avLst/>
            <a:gdLst>
              <a:gd name="textAreaLeft" fmla="*/ 0 w 1829160"/>
              <a:gd name="textAreaRight" fmla="*/ 1830240 w 1829160"/>
              <a:gd name="textAreaTop" fmla="*/ 0 h 644040"/>
              <a:gd name="textAreaBottom" fmla="*/ 645120 h 6440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Conversion to</a:t>
            </a:r>
            <a:br>
              <a:rPr sz="1800"/>
            </a:b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nonparametric </a:t>
            </a:r>
            <a:br>
              <a:rPr sz="1800"/>
            </a:b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8"/>
          <p:cNvSpPr/>
          <p:nvPr/>
        </p:nvSpPr>
        <p:spPr>
          <a:xfrm>
            <a:off x="3154320" y="3328560"/>
            <a:ext cx="1360800" cy="258480"/>
          </a:xfrm>
          <a:custGeom>
            <a:avLst/>
            <a:gdLst>
              <a:gd name="textAreaLeft" fmla="*/ 0 w 1360800"/>
              <a:gd name="textAreaRight" fmla="*/ 1361880 w 1360800"/>
              <a:gd name="textAreaTop" fmla="*/ 0 h 258480"/>
              <a:gd name="textAreaBottom" fmla="*/ 259560 h 258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Integration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ustomShape 9"/>
          <p:cNvSpPr/>
          <p:nvPr/>
        </p:nvSpPr>
        <p:spPr>
          <a:xfrm>
            <a:off x="3586320" y="4850280"/>
            <a:ext cx="1296000" cy="258480"/>
          </a:xfrm>
          <a:custGeom>
            <a:avLst/>
            <a:gdLst>
              <a:gd name="textAreaLeft" fmla="*/ 0 w 1296000"/>
              <a:gd name="textAreaRight" fmla="*/ 1297080 w 1296000"/>
              <a:gd name="textAreaTop" fmla="*/ 0 h 258480"/>
              <a:gd name="textAreaBottom" fmla="*/ 259560 h 258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8b22"/>
                </a:solidFill>
                <a:latin typeface="Arial"/>
                <a:ea typeface="DejaVu Sans"/>
              </a:rPr>
              <a:t>Prediction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ustomShape 10"/>
          <p:cNvSpPr/>
          <p:nvPr/>
        </p:nvSpPr>
        <p:spPr>
          <a:xfrm>
            <a:off x="346320" y="4061520"/>
            <a:ext cx="2967840" cy="853920"/>
          </a:xfrm>
          <a:custGeom>
            <a:avLst/>
            <a:gdLst>
              <a:gd name="textAreaLeft" fmla="*/ 0 w 2967840"/>
              <a:gd name="textAreaRight" fmla="*/ 2968920 w 2967840"/>
              <a:gd name="textAreaTop" fmla="*/ 0 h 853920"/>
              <a:gd name="textAreaBottom" fmla="*/ 855000 h 8539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Back propagation ensures</a:t>
            </a:r>
            <a:br>
              <a:rPr sz="1800"/>
            </a:b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that all weights are updated</a:t>
            </a:r>
            <a:br>
              <a:rPr sz="1800"/>
            </a:b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in context of each other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2"/>
          <a:stretch/>
        </p:blipFill>
        <p:spPr>
          <a:xfrm>
            <a:off x="8137440" y="45000"/>
            <a:ext cx="1918440" cy="534240"/>
          </a:xfrm>
          <a:prstGeom prst="rect">
            <a:avLst/>
          </a:prstGeom>
          <a:ln w="0">
            <a:noFill/>
          </a:ln>
        </p:spPr>
      </p:pic>
      <p:pic>
        <p:nvPicPr>
          <p:cNvPr id="348" name="" descr=""/>
          <p:cNvPicPr/>
          <p:nvPr/>
        </p:nvPicPr>
        <p:blipFill>
          <a:blip r:embed="rId3"/>
          <a:stretch/>
        </p:blipFill>
        <p:spPr>
          <a:xfrm>
            <a:off x="58680" y="67320"/>
            <a:ext cx="1218960" cy="4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" descr=""/>
          <p:cNvPicPr/>
          <p:nvPr/>
        </p:nvPicPr>
        <p:blipFill>
          <a:blip r:embed="rId1"/>
          <a:srcRect l="28931" t="9837" r="18449" b="0"/>
          <a:stretch/>
        </p:blipFill>
        <p:spPr>
          <a:xfrm>
            <a:off x="4725720" y="498960"/>
            <a:ext cx="5229720" cy="5041080"/>
          </a:xfrm>
          <a:prstGeom prst="rect">
            <a:avLst/>
          </a:prstGeom>
          <a:ln w="0">
            <a:noFill/>
          </a:ln>
        </p:spPr>
      </p:pic>
      <p:pic>
        <p:nvPicPr>
          <p:cNvPr id="350" name="" descr=""/>
          <p:cNvPicPr/>
          <p:nvPr/>
        </p:nvPicPr>
        <p:blipFill>
          <a:blip r:embed="rId2"/>
          <a:stretch/>
        </p:blipFill>
        <p:spPr>
          <a:xfrm>
            <a:off x="58680" y="4140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351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352" name="CustomShape 1"/>
          <p:cNvSpPr/>
          <p:nvPr/>
        </p:nvSpPr>
        <p:spPr>
          <a:xfrm>
            <a:off x="2160720" y="-11160"/>
            <a:ext cx="5255280" cy="454680"/>
          </a:xfrm>
          <a:custGeom>
            <a:avLst/>
            <a:gdLst>
              <a:gd name="textAreaLeft" fmla="*/ 0 w 5255280"/>
              <a:gd name="textAreaRight" fmla="*/ 5256360 w 5255280"/>
              <a:gd name="textAreaTop" fmla="*/ 0 h 454680"/>
              <a:gd name="textAreaBottom" fmla="*/ 45576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Big Data in single cell genomics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4"/>
          <a:srcRect l="20207" t="8469" r="33976" b="3780"/>
          <a:stretch/>
        </p:blipFill>
        <p:spPr>
          <a:xfrm>
            <a:off x="279720" y="534960"/>
            <a:ext cx="4386960" cy="501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" descr=""/>
          <p:cNvPicPr/>
          <p:nvPr/>
        </p:nvPicPr>
        <p:blipFill>
          <a:blip r:embed="rId1"/>
          <a:srcRect l="28967" t="9015" r="24986" b="308"/>
          <a:stretch/>
        </p:blipFill>
        <p:spPr>
          <a:xfrm>
            <a:off x="2131200" y="457200"/>
            <a:ext cx="5553360" cy="5102640"/>
          </a:xfrm>
          <a:prstGeom prst="rect">
            <a:avLst/>
          </a:prstGeom>
          <a:ln w="0">
            <a:noFill/>
          </a:ln>
        </p:spPr>
      </p:pic>
      <p:sp>
        <p:nvSpPr>
          <p:cNvPr id="355" name="CustomShape 1"/>
          <p:cNvSpPr/>
          <p:nvPr/>
        </p:nvSpPr>
        <p:spPr>
          <a:xfrm>
            <a:off x="1624320" y="-3600"/>
            <a:ext cx="6319080" cy="344160"/>
          </a:xfrm>
          <a:custGeom>
            <a:avLst/>
            <a:gdLst>
              <a:gd name="textAreaLeft" fmla="*/ 0 w 6319080"/>
              <a:gd name="textAreaRight" fmla="*/ 6320160 w 6319080"/>
              <a:gd name="textAreaTop" fmla="*/ 0 h 344160"/>
              <a:gd name="textAreaBottom" fmla="*/ 345240 h 344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Autoencoder: unsupervised neural network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2"/>
          <a:stretch/>
        </p:blipFill>
        <p:spPr>
          <a:xfrm>
            <a:off x="58680" y="105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3"/>
          <a:stretch/>
        </p:blipFill>
        <p:spPr>
          <a:xfrm>
            <a:off x="8138160" y="82800"/>
            <a:ext cx="1918800" cy="534960"/>
          </a:xfrm>
          <a:prstGeom prst="rect">
            <a:avLst/>
          </a:prstGeom>
          <a:ln w="0">
            <a:noFill/>
          </a:ln>
        </p:spPr>
      </p:pic>
      <p:sp>
        <p:nvSpPr>
          <p:cNvPr id="358" name="CustomShape 2"/>
          <p:cNvSpPr/>
          <p:nvPr/>
        </p:nvSpPr>
        <p:spPr>
          <a:xfrm rot="38400">
            <a:off x="6482160" y="1724400"/>
            <a:ext cx="1200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9500"/>
                </a:solidFill>
                <a:latin typeface="Arial"/>
                <a:ea typeface="DejaVu Sans"/>
              </a:rPr>
              <a:t>Encoder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3"/>
          <p:cNvSpPr/>
          <p:nvPr/>
        </p:nvSpPr>
        <p:spPr>
          <a:xfrm>
            <a:off x="6484320" y="3841920"/>
            <a:ext cx="1200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9500"/>
                </a:solidFill>
                <a:latin typeface="Arial"/>
                <a:ea typeface="DejaVu Sans"/>
              </a:rPr>
              <a:t>Decoder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" descr=""/>
          <p:cNvPicPr/>
          <p:nvPr/>
        </p:nvPicPr>
        <p:blipFill>
          <a:blip r:embed="rId1"/>
          <a:stretch/>
        </p:blipFill>
        <p:spPr>
          <a:xfrm>
            <a:off x="5029200" y="2926080"/>
            <a:ext cx="5025240" cy="2721600"/>
          </a:xfrm>
          <a:prstGeom prst="rect">
            <a:avLst/>
          </a:prstGeom>
          <a:ln w="0">
            <a:noFill/>
          </a:ln>
        </p:spPr>
      </p:pic>
      <p:pic>
        <p:nvPicPr>
          <p:cNvPr id="361" name="" descr=""/>
          <p:cNvPicPr/>
          <p:nvPr/>
        </p:nvPicPr>
        <p:blipFill>
          <a:blip r:embed="rId2"/>
          <a:stretch/>
        </p:blipFill>
        <p:spPr>
          <a:xfrm>
            <a:off x="19440" y="2926080"/>
            <a:ext cx="5100120" cy="2736000"/>
          </a:xfrm>
          <a:prstGeom prst="rect">
            <a:avLst/>
          </a:prstGeom>
          <a:ln w="0">
            <a:noFill/>
          </a:ln>
        </p:spPr>
      </p:pic>
      <p:pic>
        <p:nvPicPr>
          <p:cNvPr id="362" name="" descr=""/>
          <p:cNvPicPr/>
          <p:nvPr/>
        </p:nvPicPr>
        <p:blipFill>
          <a:blip r:embed="rId3"/>
          <a:stretch/>
        </p:blipFill>
        <p:spPr>
          <a:xfrm>
            <a:off x="5029200" y="293760"/>
            <a:ext cx="5050080" cy="2831040"/>
          </a:xfrm>
          <a:prstGeom prst="rect">
            <a:avLst/>
          </a:prstGeom>
          <a:ln w="0">
            <a:noFill/>
          </a:ln>
        </p:spPr>
      </p:pic>
      <p:pic>
        <p:nvPicPr>
          <p:cNvPr id="363" name="" descr=""/>
          <p:cNvPicPr/>
          <p:nvPr/>
        </p:nvPicPr>
        <p:blipFill>
          <a:blip r:embed="rId4"/>
          <a:stretch/>
        </p:blipFill>
        <p:spPr>
          <a:xfrm>
            <a:off x="36360" y="293760"/>
            <a:ext cx="5083560" cy="2831040"/>
          </a:xfrm>
          <a:prstGeom prst="rect">
            <a:avLst/>
          </a:prstGeom>
          <a:ln w="0">
            <a:noFill/>
          </a:ln>
        </p:spPr>
      </p:pic>
      <p:sp>
        <p:nvSpPr>
          <p:cNvPr id="364" name="CustomShape 1"/>
          <p:cNvSpPr/>
          <p:nvPr/>
        </p:nvSpPr>
        <p:spPr>
          <a:xfrm>
            <a:off x="1300680" y="-31320"/>
            <a:ext cx="7050240" cy="592920"/>
          </a:xfrm>
          <a:custGeom>
            <a:avLst/>
            <a:gdLst>
              <a:gd name="textAreaLeft" fmla="*/ 0 w 7050240"/>
              <a:gd name="textAreaRight" fmla="*/ 7051320 w 7050240"/>
              <a:gd name="textAreaTop" fmla="*/ 0 h 592920"/>
              <a:gd name="textAreaBottom" fmla="*/ 594000 h 5929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Autoencoder dimension reduction: 8617 PBMC cells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5"/>
          <a:stretch/>
        </p:blipFill>
        <p:spPr>
          <a:xfrm>
            <a:off x="58680" y="33120"/>
            <a:ext cx="1128960" cy="450720"/>
          </a:xfrm>
          <a:prstGeom prst="rect">
            <a:avLst/>
          </a:prstGeom>
          <a:ln w="0">
            <a:noFill/>
          </a:ln>
        </p:spPr>
      </p:pic>
      <p:pic>
        <p:nvPicPr>
          <p:cNvPr id="366" name="" descr=""/>
          <p:cNvPicPr/>
          <p:nvPr/>
        </p:nvPicPr>
        <p:blipFill>
          <a:blip r:embed="rId6"/>
          <a:stretch/>
        </p:blipFill>
        <p:spPr>
          <a:xfrm>
            <a:off x="8412480" y="46800"/>
            <a:ext cx="1644480" cy="534960"/>
          </a:xfrm>
          <a:prstGeom prst="rect">
            <a:avLst/>
          </a:prstGeom>
          <a:ln w="0">
            <a:noFill/>
          </a:ln>
        </p:spPr>
      </p:pic>
      <p:sp>
        <p:nvSpPr>
          <p:cNvPr id="367" name="CustomShape 2"/>
          <p:cNvSpPr/>
          <p:nvPr/>
        </p:nvSpPr>
        <p:spPr>
          <a:xfrm>
            <a:off x="8224560" y="5467320"/>
            <a:ext cx="1867680" cy="203040"/>
          </a:xfrm>
          <a:custGeom>
            <a:avLst/>
            <a:gdLst>
              <a:gd name="textAreaLeft" fmla="*/ 0 w 1867680"/>
              <a:gd name="textAreaRight" fmla="*/ 1868760 w 1867680"/>
              <a:gd name="textAreaTop" fmla="*/ 0 h 203040"/>
              <a:gd name="textAreaBottom" fmla="*/ 204120 h 2030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Oskolkov et al., unpublished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dur="indefinite" fill="hold">
                      <p:stCondLst>
                        <p:cond delay="indefinite"/>
                      </p:stCondLst>
                      <p:childTnLst>
                        <p:par>
                          <p:cTn id="2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dur="indefinite" fill="hold">
                      <p:stCondLst>
                        <p:cond delay="indefinite"/>
                      </p:stCondLst>
                      <p:childTnLst>
                        <p:par>
                          <p:cTn id="2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dur="indefinite" fill="hold">
                      <p:stCondLst>
                        <p:cond delay="indefinite"/>
                      </p:stCondLst>
                      <p:childTnLst>
                        <p:par>
                          <p:cTn id="2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dur="indefinite" fill="hold">
                      <p:stCondLst>
                        <p:cond delay="indefinite"/>
                      </p:stCondLst>
                      <p:childTnLst>
                        <p:par>
                          <p:cTn id="3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" descr=""/>
          <p:cNvPicPr/>
          <p:nvPr/>
        </p:nvPicPr>
        <p:blipFill>
          <a:blip r:embed="rId1"/>
          <a:srcRect l="2454" t="5832" r="7468" b="2461"/>
          <a:stretch/>
        </p:blipFill>
        <p:spPr>
          <a:xfrm>
            <a:off x="139680" y="479880"/>
            <a:ext cx="4721400" cy="2523960"/>
          </a:xfrm>
          <a:prstGeom prst="rect">
            <a:avLst/>
          </a:prstGeom>
          <a:ln w="0">
            <a:noFill/>
          </a:ln>
        </p:spPr>
      </p:pic>
      <p:pic>
        <p:nvPicPr>
          <p:cNvPr id="369" name="" descr=""/>
          <p:cNvPicPr/>
          <p:nvPr/>
        </p:nvPicPr>
        <p:blipFill>
          <a:blip r:embed="rId2"/>
          <a:srcRect l="3070" t="5003" r="3777" b="2461"/>
          <a:stretch/>
        </p:blipFill>
        <p:spPr>
          <a:xfrm>
            <a:off x="5322960" y="496440"/>
            <a:ext cx="4630680" cy="2500200"/>
          </a:xfrm>
          <a:prstGeom prst="rect">
            <a:avLst/>
          </a:prstGeom>
          <a:ln w="0">
            <a:noFill/>
          </a:ln>
        </p:spPr>
      </p:pic>
      <p:sp>
        <p:nvSpPr>
          <p:cNvPr id="370" name="CustomShape 1"/>
          <p:cNvSpPr/>
          <p:nvPr/>
        </p:nvSpPr>
        <p:spPr>
          <a:xfrm>
            <a:off x="1188720" y="-39600"/>
            <a:ext cx="7222320" cy="583200"/>
          </a:xfrm>
          <a:custGeom>
            <a:avLst/>
            <a:gdLst>
              <a:gd name="textAreaLeft" fmla="*/ 0 w 7222320"/>
              <a:gd name="textAreaRight" fmla="*/ 7223400 w 7222320"/>
              <a:gd name="textAreaTop" fmla="*/ 0 h 583200"/>
              <a:gd name="textAreaBottom" fmla="*/ 584280 h 583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10X Genomics Mouse Brain: scRNAseq, 1.3M cells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" descr=""/>
          <p:cNvPicPr/>
          <p:nvPr/>
        </p:nvPicPr>
        <p:blipFill>
          <a:blip r:embed="rId3"/>
          <a:srcRect l="2461" t="6644" r="7468" b="2461"/>
          <a:stretch/>
        </p:blipFill>
        <p:spPr>
          <a:xfrm>
            <a:off x="5103720" y="3016800"/>
            <a:ext cx="4810320" cy="2603880"/>
          </a:xfrm>
          <a:prstGeom prst="rect">
            <a:avLst/>
          </a:prstGeom>
          <a:ln w="0">
            <a:noFill/>
          </a:ln>
        </p:spPr>
      </p:pic>
      <p:pic>
        <p:nvPicPr>
          <p:cNvPr id="372" name="" descr=""/>
          <p:cNvPicPr/>
          <p:nvPr/>
        </p:nvPicPr>
        <p:blipFill>
          <a:blip r:embed="rId4"/>
          <a:srcRect l="3691" t="6644" r="7468" b="2461"/>
          <a:stretch/>
        </p:blipFill>
        <p:spPr>
          <a:xfrm>
            <a:off x="141120" y="3016800"/>
            <a:ext cx="4899240" cy="2630880"/>
          </a:xfrm>
          <a:prstGeom prst="rect">
            <a:avLst/>
          </a:prstGeom>
          <a:ln w="0">
            <a:noFill/>
          </a:ln>
        </p:spPr>
      </p:pic>
      <p:pic>
        <p:nvPicPr>
          <p:cNvPr id="373" name="" descr=""/>
          <p:cNvPicPr/>
          <p:nvPr/>
        </p:nvPicPr>
        <p:blipFill>
          <a:blip r:embed="rId5"/>
          <a:stretch/>
        </p:blipFill>
        <p:spPr>
          <a:xfrm>
            <a:off x="58680" y="33120"/>
            <a:ext cx="1073520" cy="450720"/>
          </a:xfrm>
          <a:prstGeom prst="rect">
            <a:avLst/>
          </a:prstGeom>
          <a:ln w="0">
            <a:noFill/>
          </a:ln>
        </p:spPr>
      </p:pic>
      <p:pic>
        <p:nvPicPr>
          <p:cNvPr id="374" name="" descr=""/>
          <p:cNvPicPr/>
          <p:nvPr/>
        </p:nvPicPr>
        <p:blipFill>
          <a:blip r:embed="rId6"/>
          <a:stretch/>
        </p:blipFill>
        <p:spPr>
          <a:xfrm>
            <a:off x="8412480" y="10800"/>
            <a:ext cx="1644480" cy="534960"/>
          </a:xfrm>
          <a:prstGeom prst="rect">
            <a:avLst/>
          </a:prstGeom>
          <a:ln w="0">
            <a:noFill/>
          </a:ln>
        </p:spPr>
      </p:pic>
      <p:sp>
        <p:nvSpPr>
          <p:cNvPr id="375" name="CustomShape 2"/>
          <p:cNvSpPr/>
          <p:nvPr/>
        </p:nvSpPr>
        <p:spPr>
          <a:xfrm>
            <a:off x="8224560" y="5467320"/>
            <a:ext cx="1867680" cy="203040"/>
          </a:xfrm>
          <a:custGeom>
            <a:avLst/>
            <a:gdLst>
              <a:gd name="textAreaLeft" fmla="*/ 0 w 1867680"/>
              <a:gd name="textAreaRight" fmla="*/ 1868760 w 1867680"/>
              <a:gd name="textAreaTop" fmla="*/ 0 h 203040"/>
              <a:gd name="textAreaBottom" fmla="*/ 204120 h 2030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Oskolkov et al., unpublished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dur="indefinite" fill="hold">
                      <p:stCondLst>
                        <p:cond delay="indefinite"/>
                      </p:stCondLst>
                      <p:childTnLst>
                        <p:par>
                          <p:cTn id="3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dur="indefinite" fill="hold">
                      <p:stCondLst>
                        <p:cond delay="indefinite"/>
                      </p:stCondLst>
                      <p:childTnLst>
                        <p:par>
                          <p:cTn id="4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dur="indefinite" fill="hold">
                      <p:stCondLst>
                        <p:cond delay="indefinite"/>
                      </p:stCondLst>
                      <p:childTnLst>
                        <p:par>
                          <p:cTn id="4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1156680" y="-8640"/>
            <a:ext cx="7257240" cy="583200"/>
          </a:xfrm>
          <a:custGeom>
            <a:avLst/>
            <a:gdLst>
              <a:gd name="textAreaLeft" fmla="*/ 0 w 7257240"/>
              <a:gd name="textAreaRight" fmla="*/ 7258320 w 7257240"/>
              <a:gd name="textAreaTop" fmla="*/ 0 h 583200"/>
              <a:gd name="textAreaBottom" fmla="*/ 584280 h 583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10X Genomics mouse brain: scRNAseq, 1.3M cells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1"/>
          <a:stretch/>
        </p:blipFill>
        <p:spPr>
          <a:xfrm>
            <a:off x="14400" y="554040"/>
            <a:ext cx="5013720" cy="3193920"/>
          </a:xfrm>
          <a:prstGeom prst="rect">
            <a:avLst/>
          </a:prstGeom>
          <a:ln w="0">
            <a:noFill/>
          </a:ln>
        </p:spPr>
      </p:pic>
      <p:pic>
        <p:nvPicPr>
          <p:cNvPr id="378" name="" descr=""/>
          <p:cNvPicPr/>
          <p:nvPr/>
        </p:nvPicPr>
        <p:blipFill>
          <a:blip r:embed="rId2"/>
          <a:stretch/>
        </p:blipFill>
        <p:spPr>
          <a:xfrm>
            <a:off x="5212080" y="2468880"/>
            <a:ext cx="4848120" cy="3202920"/>
          </a:xfrm>
          <a:prstGeom prst="rect">
            <a:avLst/>
          </a:prstGeom>
          <a:ln w="0">
            <a:noFill/>
          </a:ln>
        </p:spPr>
      </p:pic>
      <p:sp>
        <p:nvSpPr>
          <p:cNvPr id="379" name="CustomShape 2"/>
          <p:cNvSpPr/>
          <p:nvPr/>
        </p:nvSpPr>
        <p:spPr>
          <a:xfrm>
            <a:off x="5600880" y="1081080"/>
            <a:ext cx="4235400" cy="646200"/>
          </a:xfrm>
          <a:custGeom>
            <a:avLst/>
            <a:gdLst>
              <a:gd name="textAreaLeft" fmla="*/ 0 w 4235400"/>
              <a:gd name="textAreaRight" fmla="*/ 4236480 w 4235400"/>
              <a:gd name="textAreaTop" fmla="*/ 0 h 646200"/>
              <a:gd name="textAreaBottom" fmla="*/ 647280 h 646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Autoencoders can be promising for non-linear</a:t>
            </a:r>
            <a:br>
              <a:rPr sz="1800"/>
            </a:b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data pre-processing, the bottleneck can potentially</a:t>
            </a:r>
            <a:br>
              <a:rPr sz="1800"/>
            </a:b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be fed to tSNE / UMAP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3"/>
          <p:cNvSpPr/>
          <p:nvPr/>
        </p:nvSpPr>
        <p:spPr>
          <a:xfrm>
            <a:off x="1121400" y="4218840"/>
            <a:ext cx="3130560" cy="453600"/>
          </a:xfrm>
          <a:custGeom>
            <a:avLst/>
            <a:gdLst>
              <a:gd name="textAreaLeft" fmla="*/ 0 w 3130560"/>
              <a:gd name="textAreaRight" fmla="*/ 3131640 w 3130560"/>
              <a:gd name="textAreaTop" fmla="*/ 0 h 453600"/>
              <a:gd name="textAreaBottom" fmla="*/ 454680 h 453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Autoencoders themselves are perhaps </a:t>
            </a:r>
            <a:br>
              <a:rPr sz="1800"/>
            </a:b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optimal for visualization of scOmics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" descr=""/>
          <p:cNvPicPr/>
          <p:nvPr/>
        </p:nvPicPr>
        <p:blipFill>
          <a:blip r:embed="rId3"/>
          <a:stretch/>
        </p:blipFill>
        <p:spPr>
          <a:xfrm>
            <a:off x="22680" y="33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382" name="" descr=""/>
          <p:cNvPicPr/>
          <p:nvPr/>
        </p:nvPicPr>
        <p:blipFill>
          <a:blip r:embed="rId4"/>
          <a:stretch/>
        </p:blipFill>
        <p:spPr>
          <a:xfrm>
            <a:off x="8321040" y="10800"/>
            <a:ext cx="1735920" cy="534960"/>
          </a:xfrm>
          <a:prstGeom prst="rect">
            <a:avLst/>
          </a:prstGeom>
          <a:ln w="0">
            <a:noFill/>
          </a:ln>
        </p:spPr>
      </p:pic>
      <p:sp>
        <p:nvSpPr>
          <p:cNvPr id="383" name="CustomShape 4"/>
          <p:cNvSpPr/>
          <p:nvPr/>
        </p:nvSpPr>
        <p:spPr>
          <a:xfrm>
            <a:off x="16560" y="5467320"/>
            <a:ext cx="1867680" cy="203040"/>
          </a:xfrm>
          <a:custGeom>
            <a:avLst/>
            <a:gdLst>
              <a:gd name="textAreaLeft" fmla="*/ 0 w 1867680"/>
              <a:gd name="textAreaRight" fmla="*/ 1868760 w 1867680"/>
              <a:gd name="textAreaTop" fmla="*/ 0 h 203040"/>
              <a:gd name="textAreaBottom" fmla="*/ 204120 h 2030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Oskolkov et al., unpublished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" descr=""/>
          <p:cNvPicPr/>
          <p:nvPr/>
        </p:nvPicPr>
        <p:blipFill>
          <a:blip r:embed="rId1"/>
          <a:srcRect l="25848" t="21725" r="48262" b="17134"/>
          <a:stretch/>
        </p:blipFill>
        <p:spPr>
          <a:xfrm>
            <a:off x="5969520" y="446040"/>
            <a:ext cx="2411640" cy="2725200"/>
          </a:xfrm>
          <a:prstGeom prst="rect">
            <a:avLst/>
          </a:prstGeom>
          <a:ln w="0">
            <a:noFill/>
          </a:ln>
        </p:spPr>
      </p:pic>
      <p:pic>
        <p:nvPicPr>
          <p:cNvPr id="385" name="" descr=""/>
          <p:cNvPicPr/>
          <p:nvPr/>
        </p:nvPicPr>
        <p:blipFill>
          <a:blip r:embed="rId2"/>
          <a:stretch/>
        </p:blipFill>
        <p:spPr>
          <a:xfrm>
            <a:off x="58680" y="41400"/>
            <a:ext cx="1276920" cy="451080"/>
          </a:xfrm>
          <a:prstGeom prst="rect">
            <a:avLst/>
          </a:prstGeom>
          <a:ln w="0">
            <a:noFill/>
          </a:ln>
        </p:spPr>
      </p:pic>
      <p:pic>
        <p:nvPicPr>
          <p:cNvPr id="386" name="" descr=""/>
          <p:cNvPicPr/>
          <p:nvPr/>
        </p:nvPicPr>
        <p:blipFill>
          <a:blip r:embed="rId3"/>
          <a:stretch/>
        </p:blipFill>
        <p:spPr>
          <a:xfrm>
            <a:off x="7955280" y="19080"/>
            <a:ext cx="2102400" cy="535320"/>
          </a:xfrm>
          <a:prstGeom prst="rect">
            <a:avLst/>
          </a:prstGeom>
          <a:ln w="0">
            <a:noFill/>
          </a:ln>
        </p:spPr>
      </p:pic>
      <p:sp>
        <p:nvSpPr>
          <p:cNvPr id="387" name="CustomShape 1"/>
          <p:cNvSpPr/>
          <p:nvPr/>
        </p:nvSpPr>
        <p:spPr>
          <a:xfrm>
            <a:off x="2160720" y="-11160"/>
            <a:ext cx="5257080" cy="456120"/>
          </a:xfrm>
          <a:custGeom>
            <a:avLst/>
            <a:gdLst>
              <a:gd name="textAreaLeft" fmla="*/ 0 w 5257080"/>
              <a:gd name="textAreaRight" fmla="*/ 5258160 w 5257080"/>
              <a:gd name="textAreaTop" fmla="*/ 0 h 456120"/>
              <a:gd name="textAreaBottom" fmla="*/ 457200 h 456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Multi-Omics in Single Cell Genomics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" descr=""/>
          <p:cNvPicPr/>
          <p:nvPr/>
        </p:nvPicPr>
        <p:blipFill>
          <a:blip r:embed="rId4"/>
          <a:stretch/>
        </p:blipFill>
        <p:spPr>
          <a:xfrm>
            <a:off x="1324080" y="504720"/>
            <a:ext cx="4015440" cy="2145600"/>
          </a:xfrm>
          <a:prstGeom prst="rect">
            <a:avLst/>
          </a:prstGeom>
          <a:ln w="0">
            <a:noFill/>
          </a:ln>
        </p:spPr>
      </p:pic>
      <p:pic>
        <p:nvPicPr>
          <p:cNvPr id="389" name="" descr=""/>
          <p:cNvPicPr/>
          <p:nvPr/>
        </p:nvPicPr>
        <p:blipFill>
          <a:blip r:embed="rId5"/>
          <a:srcRect l="26713" t="8745" r="27585" b="36206"/>
          <a:stretch/>
        </p:blipFill>
        <p:spPr>
          <a:xfrm>
            <a:off x="1376280" y="2817720"/>
            <a:ext cx="3999960" cy="2559960"/>
          </a:xfrm>
          <a:prstGeom prst="rect">
            <a:avLst/>
          </a:prstGeom>
          <a:ln w="0">
            <a:noFill/>
          </a:ln>
        </p:spPr>
      </p:pic>
      <p:pic>
        <p:nvPicPr>
          <p:cNvPr id="390" name="" descr=""/>
          <p:cNvPicPr/>
          <p:nvPr/>
        </p:nvPicPr>
        <p:blipFill>
          <a:blip r:embed="rId6"/>
          <a:srcRect l="18850" t="10530" r="14913" b="8829"/>
          <a:stretch/>
        </p:blipFill>
        <p:spPr>
          <a:xfrm>
            <a:off x="6137640" y="3346920"/>
            <a:ext cx="3297960" cy="2259720"/>
          </a:xfrm>
          <a:prstGeom prst="rect">
            <a:avLst/>
          </a:prstGeom>
          <a:ln w="0">
            <a:noFill/>
          </a:ln>
        </p:spPr>
      </p:pic>
      <p:sp>
        <p:nvSpPr>
          <p:cNvPr id="391" name="CustomShape 2"/>
          <p:cNvSpPr/>
          <p:nvPr/>
        </p:nvSpPr>
        <p:spPr>
          <a:xfrm>
            <a:off x="20520" y="2622600"/>
            <a:ext cx="2448720" cy="271800"/>
          </a:xfrm>
          <a:custGeom>
            <a:avLst/>
            <a:gdLst>
              <a:gd name="textAreaLeft" fmla="*/ 0 w 2448720"/>
              <a:gd name="textAreaRight" fmla="*/ 2449800 w 2448720"/>
              <a:gd name="textAreaTop" fmla="*/ 0 h 271800"/>
              <a:gd name="textAreaBottom" fmla="*/ 272880 h 271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Kelsey et al., 2017, Science 358, 69-75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CustomShape 3"/>
          <p:cNvSpPr/>
          <p:nvPr/>
        </p:nvSpPr>
        <p:spPr>
          <a:xfrm>
            <a:off x="9360" y="5420160"/>
            <a:ext cx="3922200" cy="260640"/>
          </a:xfrm>
          <a:custGeom>
            <a:avLst/>
            <a:gdLst>
              <a:gd name="textAreaLeft" fmla="*/ 0 w 3922200"/>
              <a:gd name="textAreaRight" fmla="*/ 3923280 w 3922200"/>
              <a:gd name="textAreaTop" fmla="*/ 0 h 260640"/>
              <a:gd name="textAreaBottom" fmla="*/ 261720 h 260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>
              <a:lnSpc>
                <a:spcPct val="93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Hu et al., 2018, Frontier in Cell and Developmental Biology 6, 1-13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CustomShape 4"/>
          <p:cNvSpPr/>
          <p:nvPr/>
        </p:nvSpPr>
        <p:spPr>
          <a:xfrm>
            <a:off x="6950520" y="3080160"/>
            <a:ext cx="3104280" cy="260640"/>
          </a:xfrm>
          <a:custGeom>
            <a:avLst/>
            <a:gdLst>
              <a:gd name="textAreaLeft" fmla="*/ 0 w 3104280"/>
              <a:gd name="textAreaRight" fmla="*/ 3105360 w 3104280"/>
              <a:gd name="textAreaTop" fmla="*/ 0 h 260640"/>
              <a:gd name="textAreaBottom" fmla="*/ 261720 h 260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r">
              <a:lnSpc>
                <a:spcPct val="93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Clark et al., 2018, Nature Communications 9, 781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" descr=""/>
          <p:cNvPicPr/>
          <p:nvPr/>
        </p:nvPicPr>
        <p:blipFill>
          <a:blip r:embed="rId1"/>
          <a:stretch/>
        </p:blipFill>
        <p:spPr>
          <a:xfrm>
            <a:off x="7956720" y="65160"/>
            <a:ext cx="2101680" cy="534960"/>
          </a:xfrm>
          <a:prstGeom prst="rect">
            <a:avLst/>
          </a:prstGeom>
          <a:ln w="0">
            <a:noFill/>
          </a:ln>
        </p:spPr>
      </p:pic>
      <p:pic>
        <p:nvPicPr>
          <p:cNvPr id="395" name="" descr=""/>
          <p:cNvPicPr/>
          <p:nvPr/>
        </p:nvPicPr>
        <p:blipFill>
          <a:blip r:embed="rId2"/>
          <a:stretch/>
        </p:blipFill>
        <p:spPr>
          <a:xfrm>
            <a:off x="60480" y="87480"/>
            <a:ext cx="1276200" cy="450720"/>
          </a:xfrm>
          <a:prstGeom prst="rect">
            <a:avLst/>
          </a:prstGeom>
          <a:ln w="0">
            <a:noFill/>
          </a:ln>
        </p:spPr>
      </p:pic>
      <p:sp>
        <p:nvSpPr>
          <p:cNvPr id="396" name="CustomShape 1"/>
          <p:cNvSpPr/>
          <p:nvPr/>
        </p:nvSpPr>
        <p:spPr>
          <a:xfrm>
            <a:off x="2181240" y="11160"/>
            <a:ext cx="5256360" cy="45576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Autoencoder for data integration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3"/>
          <a:srcRect l="29616" t="9218" r="26154" b="308"/>
          <a:stretch/>
        </p:blipFill>
        <p:spPr>
          <a:xfrm>
            <a:off x="19080" y="577800"/>
            <a:ext cx="4789440" cy="5035680"/>
          </a:xfrm>
          <a:prstGeom prst="rect">
            <a:avLst/>
          </a:prstGeom>
          <a:ln w="0">
            <a:noFill/>
          </a:ln>
        </p:spPr>
      </p:pic>
      <p:pic>
        <p:nvPicPr>
          <p:cNvPr id="398" name="" descr=""/>
          <p:cNvPicPr/>
          <p:nvPr/>
        </p:nvPicPr>
        <p:blipFill>
          <a:blip r:embed="rId4"/>
          <a:stretch/>
        </p:blipFill>
        <p:spPr>
          <a:xfrm>
            <a:off x="5613480" y="720720"/>
            <a:ext cx="4446720" cy="4905360"/>
          </a:xfrm>
          <a:prstGeom prst="rect">
            <a:avLst/>
          </a:prstGeom>
          <a:ln w="0">
            <a:noFill/>
          </a:ln>
        </p:spPr>
      </p:pic>
      <p:sp>
        <p:nvSpPr>
          <p:cNvPr id="399" name="CustomShape 2"/>
          <p:cNvSpPr/>
          <p:nvPr/>
        </p:nvSpPr>
        <p:spPr>
          <a:xfrm>
            <a:off x="3038400" y="2611440"/>
            <a:ext cx="2995920" cy="677880"/>
          </a:xfrm>
          <a:custGeom>
            <a:avLst/>
            <a:gdLst>
              <a:gd name="textAreaLeft" fmla="*/ 0 w 2995920"/>
              <a:gd name="textAreaRight" fmla="*/ 2997000 w 2995920"/>
              <a:gd name="textAreaTop" fmla="*/ 0 h 677880"/>
              <a:gd name="textAreaBottom" fmla="*/ 678960 h 677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3333"/>
                </a:solidFill>
                <a:latin typeface="Arial"/>
                <a:ea typeface="DejaVu Sans"/>
              </a:rPr>
              <a:t>Single Cell analysis is unsupervised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1) Dimensionality Reduction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2) Clustering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ustomShape 3"/>
          <p:cNvSpPr/>
          <p:nvPr/>
        </p:nvSpPr>
        <p:spPr>
          <a:xfrm>
            <a:off x="38160" y="2589120"/>
            <a:ext cx="1344600" cy="681120"/>
          </a:xfrm>
          <a:custGeom>
            <a:avLst/>
            <a:gdLst>
              <a:gd name="textAreaLeft" fmla="*/ 0 w 1344600"/>
              <a:gd name="textAreaRight" fmla="*/ 1345680 w 1344600"/>
              <a:gd name="textAreaTop" fmla="*/ 0 h 681120"/>
              <a:gd name="textAreaBottom" fmla="*/ 682200 h 681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Autoencoder:</a:t>
            </a:r>
            <a:br>
              <a:rPr sz="18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unsupervised</a:t>
            </a:r>
            <a:br>
              <a:rPr sz="18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dur="indefinite" fill="hold">
                      <p:stCondLst>
                        <p:cond delay="indefinite"/>
                      </p:stCondLst>
                      <p:childTnLst>
                        <p:par>
                          <p:cTn id="5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dur="indefinite" fill="hold">
                      <p:stCondLst>
                        <p:cond delay="indefinite"/>
                      </p:stCondLst>
                      <p:childTnLst>
                        <p:par>
                          <p:cTn id="5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" descr=""/>
          <p:cNvPicPr/>
          <p:nvPr/>
        </p:nvPicPr>
        <p:blipFill>
          <a:blip r:embed="rId1"/>
          <a:srcRect l="13506" t="8010" r="15719" b="4899"/>
          <a:stretch/>
        </p:blipFill>
        <p:spPr>
          <a:xfrm>
            <a:off x="1189080" y="582480"/>
            <a:ext cx="7313760" cy="5062680"/>
          </a:xfrm>
          <a:prstGeom prst="rect">
            <a:avLst/>
          </a:prstGeom>
          <a:ln w="0">
            <a:noFill/>
          </a:ln>
        </p:spPr>
      </p:pic>
      <p:pic>
        <p:nvPicPr>
          <p:cNvPr id="402" name="" descr=""/>
          <p:cNvPicPr/>
          <p:nvPr/>
        </p:nvPicPr>
        <p:blipFill>
          <a:blip r:embed="rId2"/>
          <a:stretch/>
        </p:blipFill>
        <p:spPr>
          <a:xfrm>
            <a:off x="7956720" y="28440"/>
            <a:ext cx="2101680" cy="535320"/>
          </a:xfrm>
          <a:prstGeom prst="rect">
            <a:avLst/>
          </a:prstGeom>
          <a:ln w="0">
            <a:noFill/>
          </a:ln>
        </p:spPr>
      </p:pic>
      <p:pic>
        <p:nvPicPr>
          <p:cNvPr id="403" name="" descr=""/>
          <p:cNvPicPr/>
          <p:nvPr/>
        </p:nvPicPr>
        <p:blipFill>
          <a:blip r:embed="rId3"/>
          <a:stretch/>
        </p:blipFill>
        <p:spPr>
          <a:xfrm>
            <a:off x="60480" y="87480"/>
            <a:ext cx="1276200" cy="450720"/>
          </a:xfrm>
          <a:prstGeom prst="rect">
            <a:avLst/>
          </a:prstGeom>
          <a:ln w="0">
            <a:noFill/>
          </a:ln>
        </p:spPr>
      </p:pic>
      <p:sp>
        <p:nvSpPr>
          <p:cNvPr id="404" name="CustomShape 1"/>
          <p:cNvSpPr/>
          <p:nvPr/>
        </p:nvSpPr>
        <p:spPr>
          <a:xfrm>
            <a:off x="1533240" y="11160"/>
            <a:ext cx="6338160" cy="455760"/>
          </a:xfrm>
          <a:custGeom>
            <a:avLst/>
            <a:gdLst>
              <a:gd name="textAreaLeft" fmla="*/ 0 w 6338160"/>
              <a:gd name="textAreaRight" fmla="*/ 6339240 w 6338160"/>
              <a:gd name="textAreaTop" fmla="*/ 0 h 455760"/>
              <a:gd name="textAreaBottom" fmla="*/ 456840 h 455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Autoencoder for data integration: CITEseq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" descr=""/>
          <p:cNvPicPr/>
          <p:nvPr/>
        </p:nvPicPr>
        <p:blipFill>
          <a:blip r:embed="rId1"/>
          <a:srcRect l="3070" t="5003" r="7468" b="1632"/>
          <a:stretch/>
        </p:blipFill>
        <p:spPr>
          <a:xfrm>
            <a:off x="5761080" y="2990880"/>
            <a:ext cx="4130640" cy="2656080"/>
          </a:xfrm>
          <a:prstGeom prst="rect">
            <a:avLst/>
          </a:prstGeom>
          <a:ln w="0">
            <a:noFill/>
          </a:ln>
        </p:spPr>
      </p:pic>
      <p:pic>
        <p:nvPicPr>
          <p:cNvPr id="406" name="" descr=""/>
          <p:cNvPicPr/>
          <p:nvPr/>
        </p:nvPicPr>
        <p:blipFill>
          <a:blip r:embed="rId2"/>
          <a:srcRect l="25844" t="21722" r="48256" b="17130"/>
          <a:stretch/>
        </p:blipFill>
        <p:spPr>
          <a:xfrm>
            <a:off x="1332000" y="392760"/>
            <a:ext cx="2693880" cy="2347560"/>
          </a:xfrm>
          <a:prstGeom prst="rect">
            <a:avLst/>
          </a:prstGeom>
          <a:ln w="0">
            <a:noFill/>
          </a:ln>
        </p:spPr>
      </p:pic>
      <p:sp>
        <p:nvSpPr>
          <p:cNvPr id="407" name="CustomShape 1"/>
          <p:cNvSpPr/>
          <p:nvPr/>
        </p:nvSpPr>
        <p:spPr>
          <a:xfrm>
            <a:off x="444600" y="2658240"/>
            <a:ext cx="4525920" cy="219960"/>
          </a:xfrm>
          <a:custGeom>
            <a:avLst/>
            <a:gdLst>
              <a:gd name="textAreaLeft" fmla="*/ 0 w 4525920"/>
              <a:gd name="textAreaRight" fmla="*/ 4527000 w 4525920"/>
              <a:gd name="textAreaTop" fmla="*/ 0 h 219960"/>
              <a:gd name="textAreaBottom" fmla="*/ 221040 h 219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scNMTseq: Clark et al., 2018, Nature Communications 9, 781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ustomShape 2"/>
          <p:cNvSpPr/>
          <p:nvPr/>
        </p:nvSpPr>
        <p:spPr>
          <a:xfrm>
            <a:off x="1554120" y="-2520"/>
            <a:ext cx="6424920" cy="642960"/>
          </a:xfrm>
          <a:custGeom>
            <a:avLst/>
            <a:gdLst>
              <a:gd name="textAreaLeft" fmla="*/ 0 w 6424920"/>
              <a:gd name="textAreaRight" fmla="*/ 6426000 w 6424920"/>
              <a:gd name="textAreaTop" fmla="*/ 0 h 642960"/>
              <a:gd name="textAreaBottom" fmla="*/ 644040 h 642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scNMTseq: </a:t>
            </a:r>
            <a:r>
              <a:rPr b="0" lang="en-US" sz="2200" spc="-1" strike="noStrike">
                <a:solidFill>
                  <a:srgbClr val="0066cc"/>
                </a:solidFill>
                <a:latin typeface="Arial"/>
                <a:ea typeface="DejaVu Sans"/>
              </a:rPr>
              <a:t>scRNAseq + scBSseq + scATACseq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9" name="" descr=""/>
          <p:cNvPicPr/>
          <p:nvPr/>
        </p:nvPicPr>
        <p:blipFill>
          <a:blip r:embed="rId3"/>
          <a:stretch/>
        </p:blipFill>
        <p:spPr>
          <a:xfrm>
            <a:off x="6255360" y="646200"/>
            <a:ext cx="3381480" cy="2345400"/>
          </a:xfrm>
          <a:prstGeom prst="rect">
            <a:avLst/>
          </a:prstGeom>
          <a:ln w="0">
            <a:noFill/>
          </a:ln>
        </p:spPr>
      </p:pic>
      <p:pic>
        <p:nvPicPr>
          <p:cNvPr id="410" name="" descr=""/>
          <p:cNvPicPr/>
          <p:nvPr/>
        </p:nvPicPr>
        <p:blipFill>
          <a:blip r:embed="rId4"/>
          <a:srcRect l="3070" t="6644" r="7468" b="0"/>
          <a:stretch/>
        </p:blipFill>
        <p:spPr>
          <a:xfrm>
            <a:off x="112680" y="3016800"/>
            <a:ext cx="4202280" cy="2612160"/>
          </a:xfrm>
          <a:prstGeom prst="rect">
            <a:avLst/>
          </a:prstGeom>
          <a:ln w="0">
            <a:noFill/>
          </a:ln>
        </p:spPr>
      </p:pic>
      <p:sp>
        <p:nvSpPr>
          <p:cNvPr id="411" name="CustomShape 3"/>
          <p:cNvSpPr/>
          <p:nvPr/>
        </p:nvSpPr>
        <p:spPr>
          <a:xfrm>
            <a:off x="4316400" y="4016880"/>
            <a:ext cx="1346400" cy="597600"/>
          </a:xfrm>
          <a:custGeom>
            <a:avLst/>
            <a:gdLst>
              <a:gd name="textAreaLeft" fmla="*/ 0 w 1346400"/>
              <a:gd name="textAreaRight" fmla="*/ 1347480 w 1346400"/>
              <a:gd name="textAreaTop" fmla="*/ 0 h 597600"/>
              <a:gd name="textAreaBottom" fmla="*/ 598680 h 597600"/>
            </a:gdLst>
            <a:ahLst/>
            <a:rect l="textAreaLeft" t="textAreaTop" r="textAreaRight" b="textAreaBottom"/>
            <a:pathLst>
              <a:path w="3746" h="1666">
                <a:moveTo>
                  <a:pt x="0" y="416"/>
                </a:moveTo>
                <a:lnTo>
                  <a:pt x="2808" y="416"/>
                </a:lnTo>
                <a:lnTo>
                  <a:pt x="2808" y="0"/>
                </a:lnTo>
                <a:lnTo>
                  <a:pt x="3745" y="832"/>
                </a:lnTo>
                <a:lnTo>
                  <a:pt x="2808" y="1665"/>
                </a:lnTo>
                <a:lnTo>
                  <a:pt x="2808" y="1248"/>
                </a:lnTo>
                <a:lnTo>
                  <a:pt x="0" y="1248"/>
                </a:lnTo>
                <a:lnTo>
                  <a:pt x="0" y="416"/>
                </a:lnTo>
              </a:path>
            </a:pathLst>
          </a:custGeom>
          <a:solidFill>
            <a:srgbClr val="ff3333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2" name="CustomShape 4"/>
          <p:cNvSpPr/>
          <p:nvPr/>
        </p:nvSpPr>
        <p:spPr>
          <a:xfrm>
            <a:off x="4389480" y="3288240"/>
            <a:ext cx="1148040" cy="507960"/>
          </a:xfrm>
          <a:custGeom>
            <a:avLst/>
            <a:gdLst>
              <a:gd name="textAreaLeft" fmla="*/ 0 w 1148040"/>
              <a:gd name="textAreaRight" fmla="*/ 1149120 w 1148040"/>
              <a:gd name="textAreaTop" fmla="*/ 0 h 507960"/>
              <a:gd name="textAreaBottom" fmla="*/ 509040 h 507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ff3333"/>
                </a:solidFill>
                <a:latin typeface="Arial"/>
                <a:ea typeface="DejaVu Sans"/>
              </a:rPr>
              <a:t>From Single</a:t>
            </a:r>
            <a:br>
              <a:rPr sz="1800"/>
            </a:br>
            <a:r>
              <a:rPr b="0" lang="en-US" sz="1400" spc="-1" strike="noStrike">
                <a:solidFill>
                  <a:srgbClr val="ff3333"/>
                </a:solidFill>
                <a:latin typeface="Arial"/>
                <a:ea typeface="DejaVu Sans"/>
              </a:rPr>
              <a:t>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ff3333"/>
                </a:solidFill>
                <a:latin typeface="Arial"/>
                <a:ea typeface="DejaVu Sans"/>
              </a:rPr>
              <a:t>multi-Omics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3" name="" descr=""/>
          <p:cNvPicPr/>
          <p:nvPr/>
        </p:nvPicPr>
        <p:blipFill>
          <a:blip r:embed="rId5"/>
          <a:stretch/>
        </p:blipFill>
        <p:spPr>
          <a:xfrm>
            <a:off x="58680" y="33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414" name="" descr=""/>
          <p:cNvPicPr/>
          <p:nvPr/>
        </p:nvPicPr>
        <p:blipFill>
          <a:blip r:embed="rId6"/>
          <a:stretch/>
        </p:blipFill>
        <p:spPr>
          <a:xfrm>
            <a:off x="8138160" y="10800"/>
            <a:ext cx="1918800" cy="5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1896480" y="48600"/>
            <a:ext cx="6118920" cy="34416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344160"/>
              <a:gd name="textAreaBottom" fmla="*/ 345240 h 344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When Deep Learning is not good enough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1"/>
          <a:srcRect l="0" t="5003" r="0" b="5003"/>
          <a:stretch/>
        </p:blipFill>
        <p:spPr>
          <a:xfrm>
            <a:off x="3713040" y="3429000"/>
            <a:ext cx="6293160" cy="2179800"/>
          </a:xfrm>
          <a:prstGeom prst="rect">
            <a:avLst/>
          </a:prstGeom>
          <a:ln w="0">
            <a:noFill/>
          </a:ln>
        </p:spPr>
      </p:pic>
      <p:pic>
        <p:nvPicPr>
          <p:cNvPr id="417" name="" descr=""/>
          <p:cNvPicPr/>
          <p:nvPr/>
        </p:nvPicPr>
        <p:blipFill>
          <a:blip r:embed="rId2"/>
          <a:stretch/>
        </p:blipFill>
        <p:spPr>
          <a:xfrm>
            <a:off x="1098720" y="632160"/>
            <a:ext cx="8043840" cy="2477520"/>
          </a:xfrm>
          <a:prstGeom prst="rect">
            <a:avLst/>
          </a:prstGeom>
          <a:ln w="0">
            <a:noFill/>
          </a:ln>
        </p:spPr>
      </p:pic>
      <p:pic>
        <p:nvPicPr>
          <p:cNvPr id="418" name="" descr=""/>
          <p:cNvPicPr/>
          <p:nvPr/>
        </p:nvPicPr>
        <p:blipFill>
          <a:blip r:embed="rId3"/>
          <a:stretch/>
        </p:blipFill>
        <p:spPr>
          <a:xfrm>
            <a:off x="36360" y="3595680"/>
            <a:ext cx="3675240" cy="1793880"/>
          </a:xfrm>
          <a:prstGeom prst="rect">
            <a:avLst/>
          </a:prstGeom>
          <a:ln w="0">
            <a:noFill/>
          </a:ln>
        </p:spPr>
      </p:pic>
      <p:sp>
        <p:nvSpPr>
          <p:cNvPr id="419" name="CustomShape 2"/>
          <p:cNvSpPr/>
          <p:nvPr/>
        </p:nvSpPr>
        <p:spPr>
          <a:xfrm>
            <a:off x="2587680" y="3222720"/>
            <a:ext cx="5238720" cy="272520"/>
          </a:xfrm>
          <a:custGeom>
            <a:avLst/>
            <a:gdLst>
              <a:gd name="textAreaLeft" fmla="*/ 0 w 5238720"/>
              <a:gd name="textAreaRight" fmla="*/ 5239800 w 5238720"/>
              <a:gd name="textAreaTop" fmla="*/ 0 h 272520"/>
              <a:gd name="textAreaBottom" fmla="*/ 273600 h 27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ff3333"/>
                </a:solidFill>
                <a:latin typeface="Arial"/>
                <a:ea typeface="DejaVu Sans"/>
              </a:rPr>
              <a:t>Intelligence is to know how much you do not know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0" name="" descr=""/>
          <p:cNvPicPr/>
          <p:nvPr/>
        </p:nvPicPr>
        <p:blipFill>
          <a:blip r:embed="rId4"/>
          <a:stretch/>
        </p:blipFill>
        <p:spPr>
          <a:xfrm>
            <a:off x="58680" y="33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421" name="" descr=""/>
          <p:cNvPicPr/>
          <p:nvPr/>
        </p:nvPicPr>
        <p:blipFill>
          <a:blip r:embed="rId5"/>
          <a:stretch/>
        </p:blipFill>
        <p:spPr>
          <a:xfrm>
            <a:off x="8138160" y="10800"/>
            <a:ext cx="1918800" cy="5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" descr=""/>
          <p:cNvPicPr/>
          <p:nvPr/>
        </p:nvPicPr>
        <p:blipFill>
          <a:blip r:embed="rId1"/>
          <a:stretch/>
        </p:blipFill>
        <p:spPr>
          <a:xfrm>
            <a:off x="92160" y="707040"/>
            <a:ext cx="3106800" cy="2463480"/>
          </a:xfrm>
          <a:prstGeom prst="rect">
            <a:avLst/>
          </a:prstGeom>
          <a:ln w="0">
            <a:noFill/>
          </a:ln>
        </p:spPr>
      </p:pic>
      <p:pic>
        <p:nvPicPr>
          <p:cNvPr id="423" name="" descr=""/>
          <p:cNvPicPr/>
          <p:nvPr/>
        </p:nvPicPr>
        <p:blipFill>
          <a:blip r:embed="rId2"/>
          <a:srcRect l="24986" t="10005" r="17226" b="14996"/>
          <a:stretch/>
        </p:blipFill>
        <p:spPr>
          <a:xfrm>
            <a:off x="6181560" y="587880"/>
            <a:ext cx="3819960" cy="2329920"/>
          </a:xfrm>
          <a:prstGeom prst="rect">
            <a:avLst/>
          </a:prstGeom>
          <a:ln w="0">
            <a:noFill/>
          </a:ln>
        </p:spPr>
      </p:pic>
      <p:pic>
        <p:nvPicPr>
          <p:cNvPr id="424" name="" descr=""/>
          <p:cNvPicPr/>
          <p:nvPr/>
        </p:nvPicPr>
        <p:blipFill>
          <a:blip r:embed="rId3"/>
          <a:stretch/>
        </p:blipFill>
        <p:spPr>
          <a:xfrm>
            <a:off x="6578640" y="3277800"/>
            <a:ext cx="3164040" cy="684360"/>
          </a:xfrm>
          <a:prstGeom prst="rect">
            <a:avLst/>
          </a:prstGeom>
          <a:ln w="0">
            <a:noFill/>
          </a:ln>
        </p:spPr>
      </p:pic>
      <p:pic>
        <p:nvPicPr>
          <p:cNvPr id="425" name="" descr=""/>
          <p:cNvPicPr/>
          <p:nvPr/>
        </p:nvPicPr>
        <p:blipFill>
          <a:blip r:embed="rId4"/>
          <a:stretch/>
        </p:blipFill>
        <p:spPr>
          <a:xfrm>
            <a:off x="6400800" y="3895920"/>
            <a:ext cx="3376800" cy="1745280"/>
          </a:xfrm>
          <a:prstGeom prst="rect">
            <a:avLst/>
          </a:prstGeom>
          <a:ln w="0">
            <a:noFill/>
          </a:ln>
        </p:spPr>
      </p:pic>
      <p:sp>
        <p:nvSpPr>
          <p:cNvPr id="426" name="CustomShape 1"/>
          <p:cNvSpPr/>
          <p:nvPr/>
        </p:nvSpPr>
        <p:spPr>
          <a:xfrm>
            <a:off x="2251080" y="-19440"/>
            <a:ext cx="5256360" cy="34416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344160"/>
              <a:gd name="textAreaBottom" fmla="*/ 345240 h 344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Frequentist image recognition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7" name="Group 2"/>
          <p:cNvGrpSpPr/>
          <p:nvPr/>
        </p:nvGrpSpPr>
        <p:grpSpPr>
          <a:xfrm>
            <a:off x="665280" y="3597840"/>
            <a:ext cx="3706920" cy="2025000"/>
            <a:chOff x="665280" y="3597840"/>
            <a:chExt cx="3706920" cy="2025000"/>
          </a:xfrm>
        </p:grpSpPr>
        <p:pic>
          <p:nvPicPr>
            <p:cNvPr id="428" name="" descr=""/>
            <p:cNvPicPr/>
            <p:nvPr/>
          </p:nvPicPr>
          <p:blipFill>
            <a:blip r:embed="rId5"/>
            <a:stretch/>
          </p:blipFill>
          <p:spPr>
            <a:xfrm>
              <a:off x="665280" y="3597840"/>
              <a:ext cx="3706920" cy="2025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9" name="" descr=""/>
            <p:cNvPicPr/>
            <p:nvPr/>
          </p:nvPicPr>
          <p:blipFill>
            <a:blip r:embed="rId6"/>
            <a:stretch/>
          </p:blipFill>
          <p:spPr>
            <a:xfrm>
              <a:off x="3110040" y="3758400"/>
              <a:ext cx="876240" cy="7178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430" name="" descr=""/>
          <p:cNvPicPr/>
          <p:nvPr/>
        </p:nvPicPr>
        <p:blipFill>
          <a:blip r:embed="rId7"/>
          <a:srcRect l="32400" t="10005" r="29984" b="0"/>
          <a:stretch/>
        </p:blipFill>
        <p:spPr>
          <a:xfrm>
            <a:off x="3271680" y="470160"/>
            <a:ext cx="2762640" cy="2778840"/>
          </a:xfrm>
          <a:prstGeom prst="rect">
            <a:avLst/>
          </a:prstGeom>
          <a:ln w="0">
            <a:noFill/>
          </a:ln>
        </p:spPr>
      </p:pic>
      <p:sp>
        <p:nvSpPr>
          <p:cNvPr id="431" name="CustomShape 3"/>
          <p:cNvSpPr/>
          <p:nvPr/>
        </p:nvSpPr>
        <p:spPr>
          <a:xfrm>
            <a:off x="822240" y="457200"/>
            <a:ext cx="1765440" cy="272520"/>
          </a:xfrm>
          <a:custGeom>
            <a:avLst/>
            <a:gdLst>
              <a:gd name="textAreaLeft" fmla="*/ 0 w 1765440"/>
              <a:gd name="textAreaRight" fmla="*/ 1766520 w 1765440"/>
              <a:gd name="textAreaTop" fmla="*/ 0 h 272520"/>
              <a:gd name="textAreaBottom" fmla="*/ 273600 h 27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ff3333"/>
                </a:solidFill>
                <a:latin typeface="Arial"/>
                <a:ea typeface="DejaVu Sans"/>
              </a:rPr>
              <a:t>Fashion MNIST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CustomShape 4"/>
          <p:cNvSpPr/>
          <p:nvPr/>
        </p:nvSpPr>
        <p:spPr>
          <a:xfrm>
            <a:off x="4095720" y="3256200"/>
            <a:ext cx="1670400" cy="340200"/>
          </a:xfrm>
          <a:custGeom>
            <a:avLst/>
            <a:gdLst>
              <a:gd name="textAreaLeft" fmla="*/ 0 w 1670400"/>
              <a:gd name="textAreaRight" fmla="*/ 1671480 w 1670400"/>
              <a:gd name="textAreaTop" fmla="*/ 0 h 340200"/>
              <a:gd name="textAreaBottom" fmla="*/ 341280 h 340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3333"/>
                </a:solidFill>
                <a:latin typeface="Arial"/>
                <a:ea typeface="DejaVu Sans"/>
              </a:rPr>
              <a:t>Prediction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8"/>
          <a:stretch/>
        </p:blipFill>
        <p:spPr>
          <a:xfrm>
            <a:off x="58680" y="33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434" name="" descr=""/>
          <p:cNvPicPr/>
          <p:nvPr/>
        </p:nvPicPr>
        <p:blipFill>
          <a:blip r:embed="rId9"/>
          <a:stretch/>
        </p:blipFill>
        <p:spPr>
          <a:xfrm>
            <a:off x="8138160" y="10800"/>
            <a:ext cx="1918800" cy="5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dur="indefinite" fill="hold">
                      <p:stCondLst>
                        <p:cond delay="indefinite"/>
                      </p:stCondLst>
                      <p:childTnLst>
                        <p:par>
                          <p:cTn id="7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dur="indefinite" fill="hold">
                      <p:stCondLst>
                        <p:cond delay="indefinite"/>
                      </p:stCondLst>
                      <p:childTnLst>
                        <p:par>
                          <p:cTn id="8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dur="indefinite" fill="hold">
                      <p:stCondLst>
                        <p:cond delay="indefinite"/>
                      </p:stCondLst>
                      <p:childTnLst>
                        <p:par>
                          <p:cTn id="8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dur="indefinite" fill="hold">
                      <p:stCondLst>
                        <p:cond delay="indefinite"/>
                      </p:stCondLst>
                      <p:childTnLst>
                        <p:par>
                          <p:cTn id="9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CustomShape 1"/>
          <p:cNvSpPr/>
          <p:nvPr/>
        </p:nvSpPr>
        <p:spPr>
          <a:xfrm>
            <a:off x="2230560" y="39960"/>
            <a:ext cx="5256360" cy="34416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344160"/>
              <a:gd name="textAreaBottom" fmla="*/ 345240 h 344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Bayesian image recognition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6" name="" descr=""/>
          <p:cNvPicPr/>
          <p:nvPr/>
        </p:nvPicPr>
        <p:blipFill>
          <a:blip r:embed="rId1"/>
          <a:stretch/>
        </p:blipFill>
        <p:spPr>
          <a:xfrm>
            <a:off x="5742000" y="3565800"/>
            <a:ext cx="3748320" cy="2055960"/>
          </a:xfrm>
          <a:prstGeom prst="rect">
            <a:avLst/>
          </a:prstGeom>
          <a:ln w="0">
            <a:noFill/>
          </a:ln>
        </p:spPr>
      </p:pic>
      <p:pic>
        <p:nvPicPr>
          <p:cNvPr id="437" name="" descr=""/>
          <p:cNvPicPr/>
          <p:nvPr/>
        </p:nvPicPr>
        <p:blipFill>
          <a:blip r:embed="rId2"/>
          <a:stretch/>
        </p:blipFill>
        <p:spPr>
          <a:xfrm>
            <a:off x="6035760" y="2951640"/>
            <a:ext cx="3198960" cy="622080"/>
          </a:xfrm>
          <a:prstGeom prst="rect">
            <a:avLst/>
          </a:prstGeom>
          <a:ln w="0">
            <a:noFill/>
          </a:ln>
        </p:spPr>
      </p:pic>
      <p:grpSp>
        <p:nvGrpSpPr>
          <p:cNvPr id="438" name="Group 2"/>
          <p:cNvGrpSpPr/>
          <p:nvPr/>
        </p:nvGrpSpPr>
        <p:grpSpPr>
          <a:xfrm>
            <a:off x="5668920" y="852480"/>
            <a:ext cx="3706920" cy="2025000"/>
            <a:chOff x="5668920" y="852480"/>
            <a:chExt cx="3706920" cy="2025000"/>
          </a:xfrm>
        </p:grpSpPr>
        <p:pic>
          <p:nvPicPr>
            <p:cNvPr id="439" name="" descr=""/>
            <p:cNvPicPr/>
            <p:nvPr/>
          </p:nvPicPr>
          <p:blipFill>
            <a:blip r:embed="rId3"/>
            <a:stretch/>
          </p:blipFill>
          <p:spPr>
            <a:xfrm>
              <a:off x="5668920" y="852480"/>
              <a:ext cx="3706920" cy="2025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0" name="" descr=""/>
            <p:cNvPicPr/>
            <p:nvPr/>
          </p:nvPicPr>
          <p:blipFill>
            <a:blip r:embed="rId4"/>
            <a:stretch/>
          </p:blipFill>
          <p:spPr>
            <a:xfrm>
              <a:off x="8113680" y="1011960"/>
              <a:ext cx="876600" cy="717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41" name="Group 3"/>
          <p:cNvGrpSpPr/>
          <p:nvPr/>
        </p:nvGrpSpPr>
        <p:grpSpPr>
          <a:xfrm>
            <a:off x="295200" y="548640"/>
            <a:ext cx="4397760" cy="5028840"/>
            <a:chOff x="295200" y="548640"/>
            <a:chExt cx="4397760" cy="5028840"/>
          </a:xfrm>
        </p:grpSpPr>
        <p:pic>
          <p:nvPicPr>
            <p:cNvPr id="442" name="" descr=""/>
            <p:cNvPicPr/>
            <p:nvPr/>
          </p:nvPicPr>
          <p:blipFill>
            <a:blip r:embed="rId5"/>
            <a:srcRect l="37915" t="10005" r="34470" b="1526"/>
            <a:stretch/>
          </p:blipFill>
          <p:spPr>
            <a:xfrm>
              <a:off x="295200" y="877320"/>
              <a:ext cx="4248360" cy="4700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3" name="CustomShape 4"/>
            <p:cNvSpPr/>
            <p:nvPr/>
          </p:nvSpPr>
          <p:spPr>
            <a:xfrm>
              <a:off x="463680" y="548640"/>
              <a:ext cx="4229280" cy="260640"/>
            </a:xfrm>
            <a:custGeom>
              <a:avLst/>
              <a:gdLst>
                <a:gd name="textAreaLeft" fmla="*/ 0 w 4229280"/>
                <a:gd name="textAreaRight" fmla="*/ 4230360 w 4229280"/>
                <a:gd name="textAreaTop" fmla="*/ 0 h 260640"/>
                <a:gd name="textAreaBottom" fmla="*/ 261720 h 2606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3333"/>
                  </a:solidFill>
                  <a:latin typeface="Arial"/>
                  <a:ea typeface="DejaVu Sans"/>
                </a:rPr>
                <a:t>PyMC3, Edward, TensorFlow Probability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4" name="CustomShape 5"/>
          <p:cNvSpPr/>
          <p:nvPr/>
        </p:nvSpPr>
        <p:spPr>
          <a:xfrm>
            <a:off x="6858000" y="548640"/>
            <a:ext cx="1670040" cy="340200"/>
          </a:xfrm>
          <a:custGeom>
            <a:avLst/>
            <a:gdLst>
              <a:gd name="textAreaLeft" fmla="*/ 0 w 1670040"/>
              <a:gd name="textAreaRight" fmla="*/ 1671120 w 1670040"/>
              <a:gd name="textAreaTop" fmla="*/ 0 h 340200"/>
              <a:gd name="textAreaBottom" fmla="*/ 341280 h 340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3333"/>
                </a:solidFill>
                <a:latin typeface="Arial"/>
                <a:ea typeface="DejaVu Sans"/>
              </a:rPr>
              <a:t>Prediction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6"/>
          <a:stretch/>
        </p:blipFill>
        <p:spPr>
          <a:xfrm>
            <a:off x="58680" y="69120"/>
            <a:ext cx="1276560" cy="450720"/>
          </a:xfrm>
          <a:prstGeom prst="rect">
            <a:avLst/>
          </a:prstGeom>
          <a:ln w="0">
            <a:noFill/>
          </a:ln>
        </p:spPr>
      </p:pic>
      <p:pic>
        <p:nvPicPr>
          <p:cNvPr id="446" name="" descr=""/>
          <p:cNvPicPr/>
          <p:nvPr/>
        </p:nvPicPr>
        <p:blipFill>
          <a:blip r:embed="rId7"/>
          <a:stretch/>
        </p:blipFill>
        <p:spPr>
          <a:xfrm>
            <a:off x="8138160" y="46800"/>
            <a:ext cx="1918800" cy="5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3" dur="indefinite" restart="never" nodeType="tmRoot">
          <p:childTnLst>
            <p:seq>
              <p:cTn id="94" dur="indefinite" nodeType="mainSeq">
                <p:childTnLst>
                  <p:par>
                    <p:cTn id="95" dur="indefinite" fill="hold">
                      <p:stCondLst>
                        <p:cond delay="indefinite"/>
                      </p:stCondLst>
                      <p:childTnLst>
                        <p:par>
                          <p:cTn id="9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dur="indefinite" fill="hold">
                      <p:stCondLst>
                        <p:cond delay="indefinite"/>
                      </p:stCondLst>
                      <p:childTnLst>
                        <p:par>
                          <p:cTn id="10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dur="indefinite" fill="hold">
                      <p:stCondLst>
                        <p:cond delay="indefinite"/>
                      </p:stCondLst>
                      <p:childTnLst>
                        <p:par>
                          <p:cTn id="10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dur="indefinite" fill="hold">
                      <p:stCondLst>
                        <p:cond delay="indefinite"/>
                      </p:stCondLst>
                      <p:childTnLst>
                        <p:par>
                          <p:cTn id="10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1"/>
          <p:cNvSpPr/>
          <p:nvPr/>
        </p:nvSpPr>
        <p:spPr>
          <a:xfrm>
            <a:off x="2155680" y="-30600"/>
            <a:ext cx="5256360" cy="59256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592560"/>
              <a:gd name="textAreaBottom" fmla="*/ 593640 h 592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Bayesian deep learning for single cell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2"/>
          <p:cNvSpPr/>
          <p:nvPr/>
        </p:nvSpPr>
        <p:spPr>
          <a:xfrm>
            <a:off x="2370960" y="5352840"/>
            <a:ext cx="4305240" cy="272160"/>
          </a:xfrm>
          <a:custGeom>
            <a:avLst/>
            <a:gdLst>
              <a:gd name="textAreaLeft" fmla="*/ 0 w 4305240"/>
              <a:gd name="textAreaRight" fmla="*/ 4306320 w 4305240"/>
              <a:gd name="textAreaTop" fmla="*/ 0 h 272160"/>
              <a:gd name="textAreaBottom" fmla="*/ 273240 h 27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ff3333"/>
                </a:solidFill>
                <a:latin typeface="Arial"/>
                <a:ea typeface="DejaVu Sans"/>
              </a:rPr>
              <a:t>1) handy for unseen (during training) data, 2) uncertainties are crucial for clinical diagnostics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9" name="" descr=""/>
          <p:cNvPicPr/>
          <p:nvPr/>
        </p:nvPicPr>
        <p:blipFill>
          <a:blip r:embed="rId1"/>
          <a:stretch/>
        </p:blipFill>
        <p:spPr>
          <a:xfrm>
            <a:off x="20160" y="5180040"/>
            <a:ext cx="2081160" cy="471960"/>
          </a:xfrm>
          <a:prstGeom prst="rect">
            <a:avLst/>
          </a:prstGeom>
          <a:ln w="0">
            <a:noFill/>
          </a:ln>
        </p:spPr>
      </p:pic>
      <p:grpSp>
        <p:nvGrpSpPr>
          <p:cNvPr id="450" name="Group 3"/>
          <p:cNvGrpSpPr/>
          <p:nvPr/>
        </p:nvGrpSpPr>
        <p:grpSpPr>
          <a:xfrm>
            <a:off x="8341560" y="662040"/>
            <a:ext cx="1636560" cy="4400280"/>
            <a:chOff x="8341560" y="662040"/>
            <a:chExt cx="1636560" cy="4400280"/>
          </a:xfrm>
        </p:grpSpPr>
        <p:pic>
          <p:nvPicPr>
            <p:cNvPr id="451" name="" descr=""/>
            <p:cNvPicPr/>
            <p:nvPr/>
          </p:nvPicPr>
          <p:blipFill>
            <a:blip r:embed="rId2"/>
            <a:stretch/>
          </p:blipFill>
          <p:spPr>
            <a:xfrm>
              <a:off x="8357400" y="662040"/>
              <a:ext cx="1550880" cy="1364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52" name="" descr=""/>
            <p:cNvPicPr/>
            <p:nvPr/>
          </p:nvPicPr>
          <p:blipFill>
            <a:blip r:embed="rId3"/>
            <a:stretch/>
          </p:blipFill>
          <p:spPr>
            <a:xfrm>
              <a:off x="8357400" y="2145600"/>
              <a:ext cx="1620720" cy="1560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53" name="" descr=""/>
            <p:cNvPicPr/>
            <p:nvPr/>
          </p:nvPicPr>
          <p:blipFill>
            <a:blip r:embed="rId4"/>
            <a:stretch/>
          </p:blipFill>
          <p:spPr>
            <a:xfrm>
              <a:off x="8341560" y="3837600"/>
              <a:ext cx="1601640" cy="12247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454" name="" descr=""/>
          <p:cNvPicPr/>
          <p:nvPr/>
        </p:nvPicPr>
        <p:blipFill>
          <a:blip r:embed="rId5"/>
          <a:stretch/>
        </p:blipFill>
        <p:spPr>
          <a:xfrm>
            <a:off x="7955280" y="18360"/>
            <a:ext cx="2100960" cy="533880"/>
          </a:xfrm>
          <a:prstGeom prst="rect">
            <a:avLst/>
          </a:prstGeom>
          <a:ln w="0">
            <a:noFill/>
          </a:ln>
        </p:spPr>
      </p:pic>
      <p:pic>
        <p:nvPicPr>
          <p:cNvPr id="455" name="" descr=""/>
          <p:cNvPicPr/>
          <p:nvPr/>
        </p:nvPicPr>
        <p:blipFill>
          <a:blip r:embed="rId6"/>
          <a:srcRect l="24002" t="12623" r="14998" b="1690"/>
          <a:stretch/>
        </p:blipFill>
        <p:spPr>
          <a:xfrm>
            <a:off x="1427040" y="464040"/>
            <a:ext cx="6415920" cy="4752720"/>
          </a:xfrm>
          <a:prstGeom prst="rect">
            <a:avLst/>
          </a:prstGeom>
          <a:ln w="0">
            <a:noFill/>
          </a:ln>
        </p:spPr>
      </p:pic>
      <p:pic>
        <p:nvPicPr>
          <p:cNvPr id="456" name="" descr=""/>
          <p:cNvPicPr/>
          <p:nvPr/>
        </p:nvPicPr>
        <p:blipFill>
          <a:blip r:embed="rId7"/>
          <a:stretch/>
        </p:blipFill>
        <p:spPr>
          <a:xfrm>
            <a:off x="59040" y="40680"/>
            <a:ext cx="1275480" cy="449640"/>
          </a:xfrm>
          <a:prstGeom prst="rect">
            <a:avLst/>
          </a:prstGeom>
          <a:ln w="0">
            <a:noFill/>
          </a:ln>
        </p:spPr>
      </p:pic>
      <p:sp>
        <p:nvSpPr>
          <p:cNvPr id="457" name="CustomShape 4"/>
          <p:cNvSpPr/>
          <p:nvPr/>
        </p:nvSpPr>
        <p:spPr>
          <a:xfrm>
            <a:off x="5904720" y="5112000"/>
            <a:ext cx="4024440" cy="203040"/>
          </a:xfrm>
          <a:custGeom>
            <a:avLst/>
            <a:gdLst>
              <a:gd name="textAreaLeft" fmla="*/ 0 w 4024440"/>
              <a:gd name="textAreaRight" fmla="*/ 4025520 w 4024440"/>
              <a:gd name="textAreaTop" fmla="*/ 0 h 203040"/>
              <a:gd name="textAreaBottom" fmla="*/ 204120 h 2030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Bartoschek, Oskolkov et al., Nature Communications 2018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" descr=""/>
          <p:cNvPicPr/>
          <p:nvPr/>
        </p:nvPicPr>
        <p:blipFill>
          <a:blip r:embed="rId1"/>
          <a:srcRect l="31652" t="14464" r="18449" b="48437"/>
          <a:stretch/>
        </p:blipFill>
        <p:spPr>
          <a:xfrm>
            <a:off x="5979240" y="529200"/>
            <a:ext cx="3675960" cy="1536120"/>
          </a:xfrm>
          <a:prstGeom prst="rect">
            <a:avLst/>
          </a:prstGeom>
          <a:ln w="0">
            <a:noFill/>
          </a:ln>
        </p:spPr>
      </p:pic>
      <p:pic>
        <p:nvPicPr>
          <p:cNvPr id="459" name="" descr=""/>
          <p:cNvPicPr/>
          <p:nvPr/>
        </p:nvPicPr>
        <p:blipFill>
          <a:blip r:embed="rId2"/>
          <a:srcRect l="34374" t="16070" r="20268" b="43598"/>
          <a:stretch/>
        </p:blipFill>
        <p:spPr>
          <a:xfrm>
            <a:off x="418680" y="524520"/>
            <a:ext cx="5167440" cy="2582640"/>
          </a:xfrm>
          <a:prstGeom prst="rect">
            <a:avLst/>
          </a:prstGeom>
          <a:ln w="0">
            <a:noFill/>
          </a:ln>
        </p:spPr>
      </p:pic>
      <p:sp>
        <p:nvSpPr>
          <p:cNvPr id="460" name="CustomShape 1"/>
          <p:cNvSpPr/>
          <p:nvPr/>
        </p:nvSpPr>
        <p:spPr>
          <a:xfrm>
            <a:off x="2095920" y="720"/>
            <a:ext cx="5256360" cy="34380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343800"/>
              <a:gd name="textAreaBottom" fmla="*/ 344880 h 343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AI applications for single cell biology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3"/>
          <a:stretch/>
        </p:blipFill>
        <p:spPr>
          <a:xfrm>
            <a:off x="59400" y="5940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462" name="" descr=""/>
          <p:cNvPicPr/>
          <p:nvPr/>
        </p:nvPicPr>
        <p:blipFill>
          <a:blip r:embed="rId4"/>
          <a:stretch/>
        </p:blipFill>
        <p:spPr>
          <a:xfrm>
            <a:off x="7955640" y="37080"/>
            <a:ext cx="2100960" cy="533880"/>
          </a:xfrm>
          <a:prstGeom prst="rect">
            <a:avLst/>
          </a:prstGeom>
          <a:ln w="0">
            <a:noFill/>
          </a:ln>
        </p:spPr>
      </p:pic>
      <p:pic>
        <p:nvPicPr>
          <p:cNvPr id="463" name="" descr=""/>
          <p:cNvPicPr/>
          <p:nvPr/>
        </p:nvPicPr>
        <p:blipFill>
          <a:blip r:embed="rId5"/>
          <a:srcRect l="33467" t="17680" r="25711" b="48437"/>
          <a:stretch/>
        </p:blipFill>
        <p:spPr>
          <a:xfrm>
            <a:off x="5949360" y="3840480"/>
            <a:ext cx="3851640" cy="1796400"/>
          </a:xfrm>
          <a:prstGeom prst="rect">
            <a:avLst/>
          </a:prstGeom>
          <a:ln w="0">
            <a:noFill/>
          </a:ln>
        </p:spPr>
      </p:pic>
      <p:pic>
        <p:nvPicPr>
          <p:cNvPr id="464" name="" descr=""/>
          <p:cNvPicPr/>
          <p:nvPr/>
        </p:nvPicPr>
        <p:blipFill>
          <a:blip r:embed="rId6"/>
          <a:srcRect l="35281" t="17680" r="22012" b="50051"/>
          <a:stretch/>
        </p:blipFill>
        <p:spPr>
          <a:xfrm>
            <a:off x="5949360" y="2283840"/>
            <a:ext cx="3727440" cy="1582200"/>
          </a:xfrm>
          <a:prstGeom prst="rect">
            <a:avLst/>
          </a:prstGeom>
          <a:ln w="0">
            <a:noFill/>
          </a:ln>
        </p:spPr>
      </p:pic>
      <p:pic>
        <p:nvPicPr>
          <p:cNvPr id="465" name="" descr=""/>
          <p:cNvPicPr/>
          <p:nvPr/>
        </p:nvPicPr>
        <p:blipFill>
          <a:blip r:embed="rId7"/>
          <a:srcRect l="28866" t="17333" r="24860" b="42334"/>
          <a:stretch/>
        </p:blipFill>
        <p:spPr>
          <a:xfrm>
            <a:off x="398880" y="3083400"/>
            <a:ext cx="5171400" cy="253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" descr=""/>
          <p:cNvPicPr/>
          <p:nvPr/>
        </p:nvPicPr>
        <p:blipFill>
          <a:blip r:embed="rId1"/>
          <a:srcRect l="18687" t="11237" r="15969" b="6520"/>
          <a:stretch/>
        </p:blipFill>
        <p:spPr>
          <a:xfrm>
            <a:off x="19440" y="587520"/>
            <a:ext cx="5556600" cy="4736520"/>
          </a:xfrm>
          <a:prstGeom prst="rect">
            <a:avLst/>
          </a:prstGeom>
          <a:ln w="0">
            <a:noFill/>
          </a:ln>
        </p:spPr>
      </p:pic>
      <p:pic>
        <p:nvPicPr>
          <p:cNvPr id="467" name="" descr=""/>
          <p:cNvPicPr/>
          <p:nvPr/>
        </p:nvPicPr>
        <p:blipFill>
          <a:blip r:embed="rId2"/>
          <a:srcRect l="45256" t="19293" r="27524" b="9743"/>
          <a:stretch/>
        </p:blipFill>
        <p:spPr>
          <a:xfrm>
            <a:off x="7819920" y="695520"/>
            <a:ext cx="2205720" cy="3266640"/>
          </a:xfrm>
          <a:prstGeom prst="rect">
            <a:avLst/>
          </a:prstGeom>
          <a:ln w="0">
            <a:noFill/>
          </a:ln>
        </p:spPr>
      </p:pic>
      <p:pic>
        <p:nvPicPr>
          <p:cNvPr id="468" name="" descr=""/>
          <p:cNvPicPr/>
          <p:nvPr/>
        </p:nvPicPr>
        <p:blipFill>
          <a:blip r:embed="rId3"/>
          <a:srcRect l="45244" t="15563" r="27041" b="12973"/>
          <a:stretch/>
        </p:blipFill>
        <p:spPr>
          <a:xfrm>
            <a:off x="5630400" y="696240"/>
            <a:ext cx="2176200" cy="3308760"/>
          </a:xfrm>
          <a:prstGeom prst="rect">
            <a:avLst/>
          </a:prstGeom>
          <a:ln w="0">
            <a:noFill/>
          </a:ln>
        </p:spPr>
      </p:pic>
      <p:sp>
        <p:nvSpPr>
          <p:cNvPr id="469" name="CustomShape 1"/>
          <p:cNvSpPr/>
          <p:nvPr/>
        </p:nvSpPr>
        <p:spPr>
          <a:xfrm>
            <a:off x="1700640" y="19440"/>
            <a:ext cx="5256360" cy="343800"/>
          </a:xfrm>
          <a:custGeom>
            <a:avLst/>
            <a:gdLst>
              <a:gd name="textAreaLeft" fmla="*/ 0 w 5256360"/>
              <a:gd name="textAreaRight" fmla="*/ 5257440 w 5256360"/>
              <a:gd name="textAreaTop" fmla="*/ 0 h 343800"/>
              <a:gd name="textAreaBottom" fmla="*/ 344880 h 343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Popular summary of AI for Life Sciences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0" name="" descr=""/>
          <p:cNvPicPr/>
          <p:nvPr/>
        </p:nvPicPr>
        <p:blipFill>
          <a:blip r:embed="rId4"/>
          <a:stretch/>
        </p:blipFill>
        <p:spPr>
          <a:xfrm>
            <a:off x="60120" y="7812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471" name="" descr=""/>
          <p:cNvPicPr/>
          <p:nvPr/>
        </p:nvPicPr>
        <p:blipFill>
          <a:blip r:embed="rId5"/>
          <a:stretch/>
        </p:blipFill>
        <p:spPr>
          <a:xfrm>
            <a:off x="7956360" y="55800"/>
            <a:ext cx="2100960" cy="533880"/>
          </a:xfrm>
          <a:prstGeom prst="rect">
            <a:avLst/>
          </a:prstGeom>
          <a:ln w="0">
            <a:noFill/>
          </a:ln>
        </p:spPr>
      </p:pic>
      <p:pic>
        <p:nvPicPr>
          <p:cNvPr id="472" name="" descr=""/>
          <p:cNvPicPr/>
          <p:nvPr/>
        </p:nvPicPr>
        <p:blipFill>
          <a:blip r:embed="rId6"/>
          <a:srcRect l="45256" t="28969" r="27524" b="37151"/>
          <a:stretch/>
        </p:blipFill>
        <p:spPr>
          <a:xfrm>
            <a:off x="5633280" y="3987360"/>
            <a:ext cx="2137320" cy="1624320"/>
          </a:xfrm>
          <a:prstGeom prst="rect">
            <a:avLst/>
          </a:prstGeom>
          <a:ln w="0">
            <a:noFill/>
          </a:ln>
        </p:spPr>
      </p:pic>
      <p:pic>
        <p:nvPicPr>
          <p:cNvPr id="473" name="" descr=""/>
          <p:cNvPicPr/>
          <p:nvPr/>
        </p:nvPicPr>
        <p:blipFill>
          <a:blip r:embed="rId7"/>
          <a:srcRect l="45244" t="63731" r="27496" b="0"/>
          <a:stretch/>
        </p:blipFill>
        <p:spPr>
          <a:xfrm>
            <a:off x="7851960" y="3983400"/>
            <a:ext cx="2173680" cy="162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" descr=""/>
          <p:cNvPicPr/>
          <p:nvPr/>
        </p:nvPicPr>
        <p:blipFill>
          <a:blip r:embed="rId1"/>
          <a:stretch/>
        </p:blipFill>
        <p:spPr>
          <a:xfrm>
            <a:off x="1344240" y="793440"/>
            <a:ext cx="7361640" cy="3459240"/>
          </a:xfrm>
          <a:prstGeom prst="rect">
            <a:avLst/>
          </a:prstGeom>
          <a:ln w="0">
            <a:noFill/>
          </a:ln>
        </p:spPr>
      </p:pic>
      <p:sp>
        <p:nvSpPr>
          <p:cNvPr id="475" name="CustomShape 1"/>
          <p:cNvSpPr/>
          <p:nvPr/>
        </p:nvSpPr>
        <p:spPr>
          <a:xfrm>
            <a:off x="2280960" y="-62280"/>
            <a:ext cx="5254920" cy="810360"/>
          </a:xfrm>
          <a:custGeom>
            <a:avLst/>
            <a:gdLst>
              <a:gd name="textAreaLeft" fmla="*/ 0 w 5254920"/>
              <a:gd name="textAreaRight" fmla="*/ 5256000 w 5254920"/>
              <a:gd name="textAreaTop" fmla="*/ 0 h 810360"/>
              <a:gd name="textAreaBottom" fmla="*/ 811440 h 810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National Bioinformatics </a:t>
            </a:r>
            <a:br>
              <a:rPr sz="1800"/>
            </a:b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Infrastructure Sweden (NBIS)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6" name="" descr=""/>
          <p:cNvPicPr/>
          <p:nvPr/>
        </p:nvPicPr>
        <p:blipFill>
          <a:blip r:embed="rId2"/>
          <a:stretch/>
        </p:blipFill>
        <p:spPr>
          <a:xfrm>
            <a:off x="1341000" y="4326840"/>
            <a:ext cx="2619720" cy="1321560"/>
          </a:xfrm>
          <a:prstGeom prst="rect">
            <a:avLst/>
          </a:prstGeom>
          <a:ln w="0">
            <a:noFill/>
          </a:ln>
        </p:spPr>
      </p:pic>
      <p:pic>
        <p:nvPicPr>
          <p:cNvPr id="477" name="" descr=""/>
          <p:cNvPicPr/>
          <p:nvPr/>
        </p:nvPicPr>
        <p:blipFill>
          <a:blip r:embed="rId3"/>
          <a:srcRect l="0" t="7861" r="0" b="11958"/>
          <a:stretch/>
        </p:blipFill>
        <p:spPr>
          <a:xfrm>
            <a:off x="4497120" y="4296600"/>
            <a:ext cx="2019960" cy="1350000"/>
          </a:xfrm>
          <a:prstGeom prst="rect">
            <a:avLst/>
          </a:prstGeom>
          <a:ln w="0">
            <a:noFill/>
          </a:ln>
        </p:spPr>
      </p:pic>
      <p:pic>
        <p:nvPicPr>
          <p:cNvPr id="478" name="" descr=""/>
          <p:cNvPicPr/>
          <p:nvPr/>
        </p:nvPicPr>
        <p:blipFill>
          <a:blip r:embed="rId4"/>
          <a:srcRect l="0" t="4334" r="0" b="7533"/>
          <a:stretch/>
        </p:blipFill>
        <p:spPr>
          <a:xfrm>
            <a:off x="7160400" y="4326840"/>
            <a:ext cx="1540800" cy="1319760"/>
          </a:xfrm>
          <a:prstGeom prst="rect">
            <a:avLst/>
          </a:prstGeom>
          <a:ln w="0">
            <a:noFill/>
          </a:ln>
        </p:spPr>
      </p:pic>
      <p:pic>
        <p:nvPicPr>
          <p:cNvPr id="479" name="" descr=""/>
          <p:cNvPicPr/>
          <p:nvPr/>
        </p:nvPicPr>
        <p:blipFill>
          <a:blip r:embed="rId5"/>
          <a:stretch/>
        </p:blipFill>
        <p:spPr>
          <a:xfrm>
            <a:off x="58320" y="4104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480" name="" descr=""/>
          <p:cNvPicPr/>
          <p:nvPr/>
        </p:nvPicPr>
        <p:blipFill>
          <a:blip r:embed="rId6"/>
          <a:stretch/>
        </p:blipFill>
        <p:spPr>
          <a:xfrm>
            <a:off x="7954200" y="18720"/>
            <a:ext cx="2100960" cy="5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2024-10-14T22:06:02Z</dcterms:created>
  <dc:creator>Nikolay Oskolkov</dc:creator>
  <dc:description/>
  <dc:language>en-US</dc:language>
  <cp:lastModifiedBy/>
  <cp:lastPrinted>2025-12-14T08:36:25Z</cp:lastPrinted>
  <dcterms:modified xsi:type="dcterms:W3CDTF">2026-09-22T13:27:42Z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