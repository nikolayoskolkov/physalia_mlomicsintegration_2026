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11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2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34.xml" ContentType="application/vnd.openxmlformats-officedocument.theme+xml"/>
  <Override PartName="/ppt/theme/theme7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3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_rels/presentation.xml.rels" ContentType="application/vnd.openxmlformats-package.relationships+xml"/>
  <Override PartName="/ppt/media/image29.png" ContentType="image/png"/>
  <Override PartName="/ppt/media/image27.png" ContentType="image/png"/>
  <Override PartName="/ppt/media/image21.jpeg" ContentType="image/jpeg"/>
  <Override PartName="/ppt/media/image26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9.png" ContentType="image/png"/>
  <Override PartName="/ppt/media/image2.jpeg" ContentType="image/jpeg"/>
  <Override PartName="/ppt/media/image20.png" ContentType="image/png"/>
  <Override PartName="/ppt/media/image18.png" ContentType="image/png"/>
  <Override PartName="/ppt/media/image9.png" ContentType="image/png"/>
  <Override PartName="/ppt/media/image28.png" ContentType="image/png"/>
  <Override PartName="/ppt/media/image11.jpeg" ContentType="image/jpeg"/>
  <Override PartName="/ppt/media/image30.png" ContentType="image/png"/>
  <Override PartName="/ppt/media/image13.png" ContentType="image/png"/>
  <Override PartName="/ppt/media/image35.png" ContentType="image/png"/>
  <Override PartName="/ppt/media/image3.png" ContentType="image/png"/>
  <Override PartName="/ppt/media/image12.png" ContentType="image/png"/>
  <Override PartName="/ppt/media/image31.png" ContentType="image/png"/>
  <Override PartName="/ppt/media/image32.png" ContentType="image/png"/>
  <Override PartName="/ppt/media/image34.png" ContentType="image/png"/>
  <Override PartName="/ppt/media/image36.png" ContentType="image/png"/>
  <Override PartName="/ppt/media/image8.png" ContentType="image/png"/>
  <Override PartName="/ppt/media/image17.png" ContentType="image/png"/>
  <Override PartName="/ppt/media/image39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38.png" ContentType="image/png"/>
  <Override PartName="/ppt/media/image6.png" ContentType="image/png"/>
  <Override PartName="/ppt/media/image15.png" ContentType="image/png"/>
  <Override PartName="/ppt/media/image37.png" ContentType="image/png"/>
  <Override PartName="/ppt/media/image5.png" ContentType="image/png"/>
  <Override PartName="/ppt/media/image14.png" ContentType="image/png"/>
  <Override PartName="/ppt/media/image4.jpeg" ContentType="image/jpeg"/>
  <Override PartName="/ppt/media/image2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</p:sldMasterIdLst>
  <p:sldIdLst>
    <p:sldId id="256" r:id="rId42"/>
    <p:sldId id="257" r:id="rId43"/>
    <p:sldId id="258" r:id="rId44"/>
    <p:sldId id="259" r:id="rId45"/>
    <p:sldId id="260" r:id="rId46"/>
    <p:sldId id="261" r:id="rId47"/>
    <p:sldId id="262" r:id="rId48"/>
    <p:sldId id="263" r:id="rId49"/>
    <p:sldId id="264" r:id="rId50"/>
    <p:sldId id="265" r:id="rId51"/>
    <p:sldId id="266" r:id="rId52"/>
    <p:sldId id="267" r:id="rId53"/>
    <p:sldId id="268" r:id="rId54"/>
    <p:sldId id="269" r:id="rId55"/>
    <p:sldId id="270" r:id="rId56"/>
    <p:sldId id="271" r:id="rId57"/>
    <p:sldId id="272" r:id="rId58"/>
    <p:sldId id="273" r:id="rId5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" Target="slides/slide1.xml"/><Relationship Id="rId43" Type="http://schemas.openxmlformats.org/officeDocument/2006/relationships/slide" Target="slides/slide2.xml"/><Relationship Id="rId44" Type="http://schemas.openxmlformats.org/officeDocument/2006/relationships/slide" Target="slides/slide3.xml"/><Relationship Id="rId45" Type="http://schemas.openxmlformats.org/officeDocument/2006/relationships/slide" Target="slides/slide4.xml"/><Relationship Id="rId46" Type="http://schemas.openxmlformats.org/officeDocument/2006/relationships/slide" Target="slides/slide5.xml"/><Relationship Id="rId47" Type="http://schemas.openxmlformats.org/officeDocument/2006/relationships/slide" Target="slides/slide6.xml"/><Relationship Id="rId48" Type="http://schemas.openxmlformats.org/officeDocument/2006/relationships/slide" Target="slides/slide7.xml"/><Relationship Id="rId49" Type="http://schemas.openxmlformats.org/officeDocument/2006/relationships/slide" Target="slides/slide8.xml"/><Relationship Id="rId50" Type="http://schemas.openxmlformats.org/officeDocument/2006/relationships/slide" Target="slides/slide9.xml"/><Relationship Id="rId51" Type="http://schemas.openxmlformats.org/officeDocument/2006/relationships/slide" Target="slides/slide10.xml"/><Relationship Id="rId52" Type="http://schemas.openxmlformats.org/officeDocument/2006/relationships/slide" Target="slides/slide11.xml"/><Relationship Id="rId53" Type="http://schemas.openxmlformats.org/officeDocument/2006/relationships/slide" Target="slides/slide12.xml"/><Relationship Id="rId54" Type="http://schemas.openxmlformats.org/officeDocument/2006/relationships/slide" Target="slides/slide13.xml"/><Relationship Id="rId55" Type="http://schemas.openxmlformats.org/officeDocument/2006/relationships/slide" Target="slides/slide14.xml"/><Relationship Id="rId56" Type="http://schemas.openxmlformats.org/officeDocument/2006/relationships/slide" Target="slides/slide15.xml"/><Relationship Id="rId57" Type="http://schemas.openxmlformats.org/officeDocument/2006/relationships/slide" Target="slides/slide16.xml"/><Relationship Id="rId58" Type="http://schemas.openxmlformats.org/officeDocument/2006/relationships/slide" Target="slides/slide17.xml"/><Relationship Id="rId59" Type="http://schemas.openxmlformats.org/officeDocument/2006/relationships/slide" Target="slides/slide18.xml"/><Relationship Id="rId6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mailto:info@physalia-courses.org" TargetMode="External"/><Relationship Id="rId2" Type="http://schemas.openxmlformats.org/officeDocument/2006/relationships/image" Target="../media/image3.pn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jpe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slideLayout" Target="../slideLayouts/slideLayout4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slideLayout" Target="../slideLayouts/slideLayout4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0.png"/><Relationship Id="rId3" Type="http://schemas.openxmlformats.org/officeDocument/2006/relationships/image" Target="../media/image21.jpeg"/><Relationship Id="rId4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20.png"/><Relationship Id="rId7" Type="http://schemas.openxmlformats.org/officeDocument/2006/relationships/image" Target="../media/image21.jpeg"/><Relationship Id="rId8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jpe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jpeg"/><Relationship Id="rId3" Type="http://schemas.openxmlformats.org/officeDocument/2006/relationships/slideLayout" Target="../slideLayouts/slideLayout3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0.png"/><Relationship Id="rId3" Type="http://schemas.openxmlformats.org/officeDocument/2006/relationships/image" Target="../media/image21.jpeg"/><Relationship Id="rId4" Type="http://schemas.openxmlformats.org/officeDocument/2006/relationships/slideLayout" Target="../slideLayouts/slideLayout1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slideLayout" Target="../slideLayouts/slideLayout1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CustomShape 1"/>
          <p:cNvSpPr/>
          <p:nvPr/>
        </p:nvSpPr>
        <p:spPr>
          <a:xfrm>
            <a:off x="0" y="388800"/>
            <a:ext cx="10078920" cy="19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800" spc="-1" strike="noStrike">
                <a:solidFill>
                  <a:srgbClr val="3465a4"/>
                </a:solidFill>
                <a:latin typeface="Arial"/>
                <a:ea typeface="DejaVu Sans"/>
              </a:rPr>
              <a:t>Machine Learning for Multi-Omics Integration</a:t>
            </a:r>
            <a:br>
              <a:rPr sz="1800"/>
            </a:b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Physalia course</a:t>
            </a:r>
            <a:br>
              <a:rPr sz="1800"/>
            </a:br>
            <a:br>
              <a:rPr sz="1800"/>
            </a:br>
            <a:r>
              <a:rPr b="1" lang="en-US" sz="1800" spc="-1" strike="noStrike" u="sng">
                <a:solidFill>
                  <a:srgbClr val="ff6347"/>
                </a:solidFill>
                <a:uFillTx/>
                <a:latin typeface="Arial"/>
                <a:ea typeface="DejaVu Sans"/>
              </a:rPr>
              <a:t>Course outline and practical information</a:t>
            </a:r>
            <a:br>
              <a:rPr sz="1800"/>
            </a:b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Nikolay Oskolkov, Group Leader (PI) at NIRI, Riga, Latvia</a:t>
            </a:r>
            <a:br>
              <a:rPr sz="1800"/>
            </a:b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3" name="" descr=""/>
          <p:cNvPicPr/>
          <p:nvPr/>
        </p:nvPicPr>
        <p:blipFill>
          <a:blip r:embed="rId1"/>
          <a:srcRect l="13005" t="4535" r="5120" b="4560"/>
          <a:stretch/>
        </p:blipFill>
        <p:spPr>
          <a:xfrm>
            <a:off x="25200" y="4522320"/>
            <a:ext cx="1800000" cy="1123560"/>
          </a:xfrm>
          <a:prstGeom prst="rect">
            <a:avLst/>
          </a:prstGeom>
          <a:ln w="0">
            <a:noFill/>
          </a:ln>
        </p:spPr>
      </p:pic>
      <p:pic>
        <p:nvPicPr>
          <p:cNvPr id="184" name="" descr=""/>
          <p:cNvPicPr/>
          <p:nvPr/>
        </p:nvPicPr>
        <p:blipFill>
          <a:blip r:embed="rId2"/>
          <a:stretch/>
        </p:blipFill>
        <p:spPr>
          <a:xfrm>
            <a:off x="2278440" y="2328480"/>
            <a:ext cx="5409360" cy="3047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ustomShape 1"/>
          <p:cNvSpPr/>
          <p:nvPr/>
        </p:nvSpPr>
        <p:spPr>
          <a:xfrm>
            <a:off x="2214720" y="9720"/>
            <a:ext cx="5254200" cy="453600"/>
          </a:xfrm>
          <a:custGeom>
            <a:avLst/>
            <a:gdLst>
              <a:gd name="textAreaLeft" fmla="*/ 0 w 5254200"/>
              <a:gd name="textAreaRight" fmla="*/ 5255640 w 5254200"/>
              <a:gd name="textAreaTop" fmla="*/ 0 h 453600"/>
              <a:gd name="textAreaBottom" fmla="*/ 455040 h 4536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About us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CustomShape 2"/>
          <p:cNvSpPr/>
          <p:nvPr/>
        </p:nvSpPr>
        <p:spPr>
          <a:xfrm>
            <a:off x="1139400" y="771120"/>
            <a:ext cx="6404760" cy="37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6347"/>
                </a:solidFill>
                <a:latin typeface="Arial"/>
                <a:ea typeface="DejaVu Sans"/>
              </a:rPr>
              <a:t>Organizer:</a:t>
            </a:r>
            <a:r>
              <a:rPr b="0" lang="en-US" sz="1800" spc="-1" strike="noStrike">
                <a:solidFill>
                  <a:srgbClr val="ff6347"/>
                </a:solidFill>
                <a:latin typeface="Arial"/>
                <a:ea typeface="DejaVu Sans"/>
              </a:rPr>
              <a:t> Carlo Pecoraro, Physalia courses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1"/>
              </a:rPr>
              <a:t>info@physalia-courses.org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6347"/>
                </a:solidFill>
                <a:latin typeface="Arial"/>
                <a:ea typeface="DejaVu Sans"/>
              </a:rPr>
              <a:t>Instructor: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Dr. Nikolay Oskolkov, MRG Group Leader, NIRI, Riga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nikolay.oskolkov@niri.lv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7" name="" descr=""/>
          <p:cNvPicPr/>
          <p:nvPr/>
        </p:nvPicPr>
        <p:blipFill>
          <a:blip r:embed="rId2"/>
          <a:srcRect l="2777" t="0" r="36062" b="4672"/>
          <a:stretch/>
        </p:blipFill>
        <p:spPr>
          <a:xfrm>
            <a:off x="7547400" y="850680"/>
            <a:ext cx="1459080" cy="1356840"/>
          </a:xfrm>
          <a:prstGeom prst="rect">
            <a:avLst/>
          </a:prstGeom>
          <a:ln w="0">
            <a:noFill/>
          </a:ln>
        </p:spPr>
      </p:pic>
      <p:pic>
        <p:nvPicPr>
          <p:cNvPr id="188" name="" descr=""/>
          <p:cNvPicPr/>
          <p:nvPr/>
        </p:nvPicPr>
        <p:blipFill>
          <a:blip r:embed="rId3"/>
          <a:srcRect l="0" t="4749" r="0" b="0"/>
          <a:stretch/>
        </p:blipFill>
        <p:spPr>
          <a:xfrm>
            <a:off x="7677720" y="2515680"/>
            <a:ext cx="1218600" cy="1717200"/>
          </a:xfrm>
          <a:prstGeom prst="rect">
            <a:avLst/>
          </a:prstGeom>
          <a:ln w="0">
            <a:noFill/>
          </a:ln>
        </p:spPr>
      </p:pic>
      <p:sp>
        <p:nvSpPr>
          <p:cNvPr id="189" name="CustomShape 3"/>
          <p:cNvSpPr/>
          <p:nvPr/>
        </p:nvSpPr>
        <p:spPr>
          <a:xfrm>
            <a:off x="1513800" y="5325120"/>
            <a:ext cx="1355040" cy="282960"/>
          </a:xfrm>
          <a:custGeom>
            <a:avLst/>
            <a:gdLst>
              <a:gd name="textAreaLeft" fmla="*/ 0 w 1355040"/>
              <a:gd name="textAreaRight" fmla="*/ 1356480 w 1355040"/>
              <a:gd name="textAreaTop" fmla="*/ 0 h 282960"/>
              <a:gd name="textAreaBottom" fmla="*/ 284400 h 2829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@NikolayOskolkov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0" name="Group 4"/>
          <p:cNvGrpSpPr/>
          <p:nvPr/>
        </p:nvGrpSpPr>
        <p:grpSpPr>
          <a:xfrm>
            <a:off x="1199520" y="4480560"/>
            <a:ext cx="2094120" cy="844920"/>
            <a:chOff x="1199520" y="4480560"/>
            <a:chExt cx="2094120" cy="844920"/>
          </a:xfrm>
        </p:grpSpPr>
        <p:pic>
          <p:nvPicPr>
            <p:cNvPr id="191" name="" descr=""/>
            <p:cNvPicPr/>
            <p:nvPr/>
          </p:nvPicPr>
          <p:blipFill>
            <a:blip r:embed="rId4"/>
            <a:srcRect l="58354" t="18655" r="0" b="20725"/>
            <a:stretch/>
          </p:blipFill>
          <p:spPr>
            <a:xfrm>
              <a:off x="2267640" y="4501080"/>
              <a:ext cx="1026000" cy="8244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92" name="" descr=""/>
            <p:cNvPicPr/>
            <p:nvPr/>
          </p:nvPicPr>
          <p:blipFill>
            <a:blip r:embed="rId5"/>
            <a:srcRect l="0" t="18655" r="56437" b="20725"/>
            <a:stretch/>
          </p:blipFill>
          <p:spPr>
            <a:xfrm>
              <a:off x="1199520" y="4480560"/>
              <a:ext cx="1073160" cy="8244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93" name="CustomShape 5"/>
          <p:cNvSpPr/>
          <p:nvPr/>
        </p:nvSpPr>
        <p:spPr>
          <a:xfrm>
            <a:off x="5939280" y="5248800"/>
            <a:ext cx="183096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Personal homepage: </a:t>
            </a:r>
            <a:br>
              <a:rPr sz="18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https://nikolay-oskolkov.com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4" name="" descr=""/>
          <p:cNvPicPr/>
          <p:nvPr/>
        </p:nvPicPr>
        <p:blipFill>
          <a:blip r:embed="rId6"/>
          <a:srcRect l="11567" t="14531" r="7772" b="12490"/>
          <a:stretch/>
        </p:blipFill>
        <p:spPr>
          <a:xfrm>
            <a:off x="6313680" y="4381560"/>
            <a:ext cx="1002240" cy="906480"/>
          </a:xfrm>
          <a:prstGeom prst="rect">
            <a:avLst/>
          </a:prstGeom>
          <a:ln w="0">
            <a:noFill/>
          </a:ln>
        </p:spPr>
      </p:pic>
      <p:sp>
        <p:nvSpPr>
          <p:cNvPr id="195" name="CustomShape 6"/>
          <p:cNvSpPr/>
          <p:nvPr/>
        </p:nvSpPr>
        <p:spPr>
          <a:xfrm>
            <a:off x="3888000" y="5369040"/>
            <a:ext cx="1606680" cy="228240"/>
          </a:xfrm>
          <a:custGeom>
            <a:avLst/>
            <a:gdLst>
              <a:gd name="textAreaLeft" fmla="*/ 0 w 1606680"/>
              <a:gd name="textAreaRight" fmla="*/ 1608120 w 1606680"/>
              <a:gd name="textAreaTop" fmla="*/ 0 h 228240"/>
              <a:gd name="textAreaBottom" fmla="*/ 229680 h 2282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998"/>
              </a:spcAf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@oskolkov.bsky.social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6" name="" descr=""/>
          <p:cNvPicPr/>
          <p:nvPr/>
        </p:nvPicPr>
        <p:blipFill>
          <a:blip r:embed="rId7"/>
          <a:stretch/>
        </p:blipFill>
        <p:spPr>
          <a:xfrm>
            <a:off x="4182840" y="4398840"/>
            <a:ext cx="975600" cy="96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" descr=""/>
          <p:cNvPicPr/>
          <p:nvPr/>
        </p:nvPicPr>
        <p:blipFill>
          <a:blip r:embed="rId1"/>
          <a:stretch/>
        </p:blipFill>
        <p:spPr>
          <a:xfrm>
            <a:off x="70920" y="36720"/>
            <a:ext cx="612000" cy="583560"/>
          </a:xfrm>
          <a:prstGeom prst="rect">
            <a:avLst/>
          </a:prstGeom>
          <a:ln w="0">
            <a:noFill/>
          </a:ln>
        </p:spPr>
      </p:pic>
      <p:sp>
        <p:nvSpPr>
          <p:cNvPr id="198" name=""/>
          <p:cNvSpPr/>
          <p:nvPr/>
        </p:nvSpPr>
        <p:spPr>
          <a:xfrm>
            <a:off x="2257560" y="30240"/>
            <a:ext cx="5254200" cy="453240"/>
          </a:xfrm>
          <a:custGeom>
            <a:avLst/>
            <a:gdLst>
              <a:gd name="textAreaLeft" fmla="*/ 0 w 5254200"/>
              <a:gd name="textAreaRight" fmla="*/ 5256360 w 5254200"/>
              <a:gd name="textAreaTop" fmla="*/ 0 h 453240"/>
              <a:gd name="textAreaBottom" fmla="*/ 455400 h 4532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spcBef>
                <a:spcPts val="162"/>
              </a:spcBef>
              <a:spcAft>
                <a:spcPts val="16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Brief introduction: who am I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555480" y="519120"/>
            <a:ext cx="4002120" cy="1893600"/>
          </a:xfrm>
          <a:custGeom>
            <a:avLst/>
            <a:gdLst>
              <a:gd name="textAreaLeft" fmla="*/ 0 w 4002120"/>
              <a:gd name="textAreaRight" fmla="*/ 4004280 w 4002120"/>
              <a:gd name="textAreaTop" fmla="*/ 0 h 1893600"/>
              <a:gd name="textAreaBottom" fmla="*/ 1895760 h 18936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62"/>
              </a:spcBef>
              <a:spcAft>
                <a:spcPts val="16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2007   PhD in theoretical physics in Moscow, Russia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62"/>
              </a:spcBef>
              <a:spcAft>
                <a:spcPts val="16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2011   medical genomics at Lund University, Sweden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62"/>
              </a:spcBef>
              <a:spcAft>
                <a:spcPts val="16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2016   bioinformatician at NBIS SciLifeLab, Sweden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62"/>
              </a:spcBef>
              <a:spcAft>
                <a:spcPts val="16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2025   Metabolic Research Group leader, NIRI, Latvia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62"/>
              </a:spcBef>
              <a:spcAft>
                <a:spcPts val="16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62"/>
              </a:spcBef>
              <a:spcAft>
                <a:spcPts val="16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60+ publications; h-index = 28; 4,600+ citations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0" name="" descr=""/>
          <p:cNvPicPr/>
          <p:nvPr/>
        </p:nvPicPr>
        <p:blipFill>
          <a:blip r:embed="rId2"/>
          <a:srcRect l="0" t="4801" r="248" b="444"/>
          <a:stretch/>
        </p:blipFill>
        <p:spPr>
          <a:xfrm>
            <a:off x="371520" y="2498760"/>
            <a:ext cx="5830560" cy="3114360"/>
          </a:xfrm>
          <a:prstGeom prst="rect">
            <a:avLst/>
          </a:prstGeom>
          <a:ln w="0">
            <a:noFill/>
          </a:ln>
        </p:spPr>
      </p:pic>
      <p:pic>
        <p:nvPicPr>
          <p:cNvPr id="201" name="" descr=""/>
          <p:cNvPicPr/>
          <p:nvPr/>
        </p:nvPicPr>
        <p:blipFill>
          <a:blip r:embed="rId3"/>
          <a:srcRect l="0" t="9377" r="0" b="0"/>
          <a:stretch/>
        </p:blipFill>
        <p:spPr>
          <a:xfrm>
            <a:off x="7525080" y="654120"/>
            <a:ext cx="2513880" cy="1472760"/>
          </a:xfrm>
          <a:prstGeom prst="rect">
            <a:avLst/>
          </a:prstGeom>
          <a:ln w="0">
            <a:noFill/>
          </a:ln>
        </p:spPr>
      </p:pic>
      <p:pic>
        <p:nvPicPr>
          <p:cNvPr id="202" name="" descr=""/>
          <p:cNvPicPr/>
          <p:nvPr/>
        </p:nvPicPr>
        <p:blipFill>
          <a:blip r:embed="rId4"/>
          <a:stretch/>
        </p:blipFill>
        <p:spPr>
          <a:xfrm>
            <a:off x="4692600" y="668160"/>
            <a:ext cx="2801880" cy="1461960"/>
          </a:xfrm>
          <a:prstGeom prst="rect">
            <a:avLst/>
          </a:prstGeom>
          <a:ln w="0">
            <a:noFill/>
          </a:ln>
        </p:spPr>
      </p:pic>
      <p:sp>
        <p:nvSpPr>
          <p:cNvPr id="203" name=""/>
          <p:cNvSpPr/>
          <p:nvPr/>
        </p:nvSpPr>
        <p:spPr>
          <a:xfrm>
            <a:off x="7539480" y="638280"/>
            <a:ext cx="1098000" cy="272520"/>
          </a:xfrm>
          <a:custGeom>
            <a:avLst/>
            <a:gdLst>
              <a:gd name="textAreaLeft" fmla="*/ 0 w 1098000"/>
              <a:gd name="textAreaRight" fmla="*/ 1100160 w 1098000"/>
              <a:gd name="textAreaTop" fmla="*/ 0 h 272520"/>
              <a:gd name="textAreaBottom" fmla="*/ 274680 h 2725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DejaVu Sans"/>
              </a:rPr>
              <a:t>Lund University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5990040" y="673200"/>
            <a:ext cx="1474200" cy="272520"/>
          </a:xfrm>
          <a:custGeom>
            <a:avLst/>
            <a:gdLst>
              <a:gd name="textAreaLeft" fmla="*/ 0 w 1474200"/>
              <a:gd name="textAreaRight" fmla="*/ 1476360 w 1474200"/>
              <a:gd name="textAreaTop" fmla="*/ 0 h 272520"/>
              <a:gd name="textAreaBottom" fmla="*/ 274680 h 2725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69a2e"/>
                </a:solidFill>
                <a:latin typeface="Arial"/>
                <a:ea typeface="DejaVu Sans"/>
              </a:rPr>
              <a:t>Moscow State University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5" name=""/>
          <p:cNvGrpSpPr/>
          <p:nvPr/>
        </p:nvGrpSpPr>
        <p:grpSpPr>
          <a:xfrm>
            <a:off x="6620400" y="2149560"/>
            <a:ext cx="3179520" cy="1746000"/>
            <a:chOff x="6620400" y="2149560"/>
            <a:chExt cx="3179520" cy="1746000"/>
          </a:xfrm>
        </p:grpSpPr>
        <p:pic>
          <p:nvPicPr>
            <p:cNvPr id="206" name="" descr=""/>
            <p:cNvPicPr/>
            <p:nvPr/>
          </p:nvPicPr>
          <p:blipFill>
            <a:blip r:embed="rId5"/>
            <a:srcRect l="0" t="37361" r="0" b="0"/>
            <a:stretch/>
          </p:blipFill>
          <p:spPr>
            <a:xfrm>
              <a:off x="6620400" y="2166840"/>
              <a:ext cx="3082680" cy="17287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7" name=""/>
            <p:cNvSpPr/>
            <p:nvPr/>
          </p:nvSpPr>
          <p:spPr>
            <a:xfrm>
              <a:off x="8942760" y="2149560"/>
              <a:ext cx="857160" cy="258120"/>
            </a:xfrm>
            <a:custGeom>
              <a:avLst/>
              <a:gdLst>
                <a:gd name="textAreaLeft" fmla="*/ 0 w 857160"/>
                <a:gd name="textAreaRight" fmla="*/ 859320 w 857160"/>
                <a:gd name="textAreaTop" fmla="*/ 0 h 258120"/>
                <a:gd name="textAreaBottom" fmla="*/ 260280 h 25812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125"/>
                </a:spcBef>
                <a:spcAft>
                  <a:spcPts val="125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0" lang="en-US" sz="10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SciLifeLab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8" name=""/>
          <p:cNvGrpSpPr/>
          <p:nvPr/>
        </p:nvGrpSpPr>
        <p:grpSpPr>
          <a:xfrm>
            <a:off x="6623280" y="3922920"/>
            <a:ext cx="3087720" cy="1763640"/>
            <a:chOff x="6623280" y="3922920"/>
            <a:chExt cx="3087720" cy="1763640"/>
          </a:xfrm>
        </p:grpSpPr>
        <p:pic>
          <p:nvPicPr>
            <p:cNvPr id="209" name="" descr=""/>
            <p:cNvPicPr/>
            <p:nvPr/>
          </p:nvPicPr>
          <p:blipFill>
            <a:blip r:embed="rId6"/>
            <a:stretch/>
          </p:blipFill>
          <p:spPr>
            <a:xfrm>
              <a:off x="6623280" y="3922920"/>
              <a:ext cx="3087720" cy="17287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10" name=""/>
            <p:cNvSpPr/>
            <p:nvPr/>
          </p:nvSpPr>
          <p:spPr>
            <a:xfrm>
              <a:off x="8620560" y="5426640"/>
              <a:ext cx="1090440" cy="259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125"/>
                </a:spcBef>
                <a:spcAft>
                  <a:spcPts val="125"/>
                </a:spcAft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  <a:tab algn="l" pos="9601200"/>
                  <a:tab algn="l" pos="10058400"/>
                  <a:tab algn="l" pos="10515600"/>
                </a:tabLst>
              </a:pPr>
              <a:r>
                <a:rPr b="0" lang="en-US" sz="10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NIRI=LIOS+BMC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11" name="" descr=""/>
          <p:cNvPicPr/>
          <p:nvPr/>
        </p:nvPicPr>
        <p:blipFill>
          <a:blip r:embed="rId7"/>
          <a:srcRect l="4511" t="13458" r="4511" b="13458"/>
          <a:stretch/>
        </p:blipFill>
        <p:spPr>
          <a:xfrm>
            <a:off x="8214840" y="43560"/>
            <a:ext cx="1881000" cy="500400"/>
          </a:xfrm>
          <a:prstGeom prst="rect">
            <a:avLst/>
          </a:prstGeom>
          <a:ln w="0">
            <a:noFill/>
          </a:ln>
        </p:spPr>
      </p:pic>
      <p:sp>
        <p:nvSpPr>
          <p:cNvPr id="212" name="CustomShape 16"/>
          <p:cNvSpPr/>
          <p:nvPr/>
        </p:nvSpPr>
        <p:spPr>
          <a:xfrm>
            <a:off x="2207880" y="2467800"/>
            <a:ext cx="2008440" cy="1568160"/>
          </a:xfrm>
          <a:prstGeom prst="rect">
            <a:avLst/>
          </a:prstGeom>
          <a:noFill/>
          <a:ln w="36720">
            <a:solidFill>
              <a:srgbClr val="dc14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" descr=""/>
          <p:cNvPicPr/>
          <p:nvPr/>
        </p:nvPicPr>
        <p:blipFill>
          <a:blip r:embed="rId1"/>
          <a:srcRect l="0" t="0" r="0" b="26681"/>
          <a:stretch/>
        </p:blipFill>
        <p:spPr>
          <a:xfrm>
            <a:off x="109440" y="750960"/>
            <a:ext cx="6322680" cy="3393720"/>
          </a:xfrm>
          <a:prstGeom prst="rect">
            <a:avLst/>
          </a:prstGeom>
          <a:ln w="0">
            <a:noFill/>
          </a:ln>
        </p:spPr>
      </p:pic>
      <p:pic>
        <p:nvPicPr>
          <p:cNvPr id="214" name="" descr=""/>
          <p:cNvPicPr/>
          <p:nvPr/>
        </p:nvPicPr>
        <p:blipFill>
          <a:blip r:embed="rId2"/>
          <a:srcRect l="9896" t="0" r="11923" b="24361"/>
          <a:stretch/>
        </p:blipFill>
        <p:spPr>
          <a:xfrm>
            <a:off x="6595200" y="750960"/>
            <a:ext cx="1499040" cy="2328480"/>
          </a:xfrm>
          <a:prstGeom prst="rect">
            <a:avLst/>
          </a:prstGeom>
          <a:ln w="0">
            <a:noFill/>
          </a:ln>
        </p:spPr>
      </p:pic>
      <p:pic>
        <p:nvPicPr>
          <p:cNvPr id="215" name="" descr=""/>
          <p:cNvPicPr/>
          <p:nvPr/>
        </p:nvPicPr>
        <p:blipFill>
          <a:blip r:embed="rId3"/>
          <a:srcRect l="14518" t="0" r="6000" b="0"/>
          <a:stretch/>
        </p:blipFill>
        <p:spPr>
          <a:xfrm>
            <a:off x="8382960" y="3278880"/>
            <a:ext cx="1516320" cy="1937160"/>
          </a:xfrm>
          <a:prstGeom prst="rect">
            <a:avLst/>
          </a:prstGeom>
          <a:ln w="0">
            <a:noFill/>
          </a:ln>
        </p:spPr>
      </p:pic>
      <p:sp>
        <p:nvSpPr>
          <p:cNvPr id="216" name=""/>
          <p:cNvSpPr/>
          <p:nvPr/>
        </p:nvSpPr>
        <p:spPr>
          <a:xfrm>
            <a:off x="8216640" y="5207400"/>
            <a:ext cx="1826640" cy="385920"/>
          </a:xfrm>
          <a:custGeom>
            <a:avLst/>
            <a:gdLst>
              <a:gd name="textAreaLeft" fmla="*/ 0 w 1826640"/>
              <a:gd name="textAreaRight" fmla="*/ 1830600 w 1826640"/>
              <a:gd name="textAreaTop" fmla="*/ 0 h 385920"/>
              <a:gd name="textAreaBottom" fmla="*/ 389160 h 3859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Daniel Rivas, MD, postdoc</a:t>
            </a:r>
            <a:br>
              <a:rPr sz="18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in Metabolic Research Group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2004480" y="65160"/>
            <a:ext cx="5252400" cy="451440"/>
          </a:xfrm>
          <a:custGeom>
            <a:avLst/>
            <a:gdLst>
              <a:gd name="textAreaLeft" fmla="*/ 0 w 5252400"/>
              <a:gd name="textAreaRight" fmla="*/ 5256360 w 5252400"/>
              <a:gd name="textAreaTop" fmla="*/ 0 h 451440"/>
              <a:gd name="textAreaBottom" fmla="*/ 455400 h 4514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spcBef>
                <a:spcPts val="113"/>
              </a:spcBef>
              <a:spcAft>
                <a:spcPts val="113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Metabolic Research Group at NIRI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-66600" y="4348440"/>
            <a:ext cx="6619320" cy="8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800" spc="-1" strike="noStrike">
                <a:solidFill>
                  <a:srgbClr val="008000"/>
                </a:solidFill>
                <a:latin typeface="Arial"/>
                <a:ea typeface="DejaVu Sans"/>
              </a:rPr>
              <a:t>1 more postdoctoral fellow and 1 PhD student to be hired</a:t>
            </a:r>
            <a:br>
              <a:rPr sz="1800"/>
            </a:br>
            <a:br>
              <a:rPr sz="1800"/>
            </a:br>
            <a:r>
              <a:rPr b="1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If you know anyone who might be interested, </a:t>
            </a:r>
            <a:br>
              <a:rPr sz="1800"/>
            </a:br>
            <a:r>
              <a:rPr b="1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please contact me!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6380640" y="5208840"/>
            <a:ext cx="1826280" cy="510480"/>
          </a:xfrm>
          <a:custGeom>
            <a:avLst/>
            <a:gdLst>
              <a:gd name="textAreaLeft" fmla="*/ 0 w 1826280"/>
              <a:gd name="textAreaRight" fmla="*/ 1830240 w 1826280"/>
              <a:gd name="textAreaTop" fmla="*/ 0 h 510480"/>
              <a:gd name="textAreaBottom" fmla="*/ 514440 h 5104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Kristina Grausa, PhD student</a:t>
            </a:r>
            <a:br>
              <a:rPr sz="18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in Metabolic Research Group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0" name="" descr=""/>
          <p:cNvPicPr/>
          <p:nvPr/>
        </p:nvPicPr>
        <p:blipFill>
          <a:blip r:embed="rId4"/>
          <a:stretch/>
        </p:blipFill>
        <p:spPr>
          <a:xfrm>
            <a:off x="69840" y="36360"/>
            <a:ext cx="612000" cy="583560"/>
          </a:xfrm>
          <a:prstGeom prst="rect">
            <a:avLst/>
          </a:prstGeom>
          <a:ln w="0">
            <a:noFill/>
          </a:ln>
        </p:spPr>
      </p:pic>
      <p:pic>
        <p:nvPicPr>
          <p:cNvPr id="221" name="" descr=""/>
          <p:cNvPicPr/>
          <p:nvPr/>
        </p:nvPicPr>
        <p:blipFill>
          <a:blip r:embed="rId5"/>
          <a:srcRect l="4511" t="13458" r="4511" b="13458"/>
          <a:stretch/>
        </p:blipFill>
        <p:spPr>
          <a:xfrm>
            <a:off x="8375400" y="79200"/>
            <a:ext cx="1684440" cy="447840"/>
          </a:xfrm>
          <a:prstGeom prst="rect">
            <a:avLst/>
          </a:prstGeom>
          <a:ln w="0">
            <a:noFill/>
          </a:ln>
        </p:spPr>
      </p:pic>
      <p:pic>
        <p:nvPicPr>
          <p:cNvPr id="222" name="" descr=""/>
          <p:cNvPicPr/>
          <p:nvPr/>
        </p:nvPicPr>
        <p:blipFill>
          <a:blip r:embed="rId6"/>
          <a:srcRect l="30861" t="3870" r="21499" b="0"/>
          <a:stretch/>
        </p:blipFill>
        <p:spPr>
          <a:xfrm>
            <a:off x="6607800" y="3285000"/>
            <a:ext cx="1437480" cy="1935720"/>
          </a:xfrm>
          <a:prstGeom prst="rect">
            <a:avLst/>
          </a:prstGeom>
          <a:ln w="0">
            <a:noFill/>
          </a:ln>
        </p:spPr>
      </p:pic>
      <p:pic>
        <p:nvPicPr>
          <p:cNvPr id="223" name="" descr=""/>
          <p:cNvPicPr/>
          <p:nvPr/>
        </p:nvPicPr>
        <p:blipFill>
          <a:blip r:embed="rId7"/>
          <a:srcRect l="29844" t="0" r="0" b="0"/>
          <a:stretch/>
        </p:blipFill>
        <p:spPr>
          <a:xfrm>
            <a:off x="8429040" y="785880"/>
            <a:ext cx="1398600" cy="1874160"/>
          </a:xfrm>
          <a:prstGeom prst="rect">
            <a:avLst/>
          </a:prstGeom>
          <a:ln w="0">
            <a:noFill/>
          </a:ln>
        </p:spPr>
      </p:pic>
      <p:sp>
        <p:nvSpPr>
          <p:cNvPr id="224" name=""/>
          <p:cNvSpPr/>
          <p:nvPr/>
        </p:nvSpPr>
        <p:spPr>
          <a:xfrm>
            <a:off x="8216640" y="2651400"/>
            <a:ext cx="1826640" cy="385920"/>
          </a:xfrm>
          <a:custGeom>
            <a:avLst/>
            <a:gdLst>
              <a:gd name="textAreaLeft" fmla="*/ 0 w 1826640"/>
              <a:gd name="textAreaRight" fmla="*/ 1830600 w 1826640"/>
              <a:gd name="textAreaTop" fmla="*/ 0 h 385920"/>
              <a:gd name="textAreaBottom" fmla="*/ 389160 h 3859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Mohammad Banabazi, postdoc</a:t>
            </a:r>
            <a:br>
              <a:rPr sz="1800"/>
            </a:b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in Metabolic Research Group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" descr=""/>
          <p:cNvPicPr/>
          <p:nvPr/>
        </p:nvPicPr>
        <p:blipFill>
          <a:blip r:embed="rId1"/>
          <a:srcRect l="13005" t="4535" r="5120" b="4560"/>
          <a:stretch/>
        </p:blipFill>
        <p:spPr>
          <a:xfrm>
            <a:off x="25200" y="4522680"/>
            <a:ext cx="1800000" cy="1123560"/>
          </a:xfrm>
          <a:prstGeom prst="rect">
            <a:avLst/>
          </a:prstGeom>
          <a:ln w="0">
            <a:noFill/>
          </a:ln>
        </p:spPr>
      </p:pic>
      <p:sp>
        <p:nvSpPr>
          <p:cNvPr id="226" name="CustomShape 1"/>
          <p:cNvSpPr/>
          <p:nvPr/>
        </p:nvSpPr>
        <p:spPr>
          <a:xfrm>
            <a:off x="2206800" y="27360"/>
            <a:ext cx="5254200" cy="453600"/>
          </a:xfrm>
          <a:custGeom>
            <a:avLst/>
            <a:gdLst>
              <a:gd name="textAreaLeft" fmla="*/ 0 w 5254200"/>
              <a:gd name="textAreaRight" fmla="*/ 5255640 w 5254200"/>
              <a:gd name="textAreaTop" fmla="*/ 0 h 453600"/>
              <a:gd name="textAreaBottom" fmla="*/ 455040 h 4536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About you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CustomShape 2"/>
          <p:cNvSpPr/>
          <p:nvPr/>
        </p:nvSpPr>
        <p:spPr>
          <a:xfrm>
            <a:off x="2033280" y="914400"/>
            <a:ext cx="7338240" cy="29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4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Name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4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University / Institute / Company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4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Research interest(s)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4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Previous experience with computational analysis and bioinformatics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4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Motivation to join the course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4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Expectations from the course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8" name="" descr=""/>
          <p:cNvPicPr/>
          <p:nvPr/>
        </p:nvPicPr>
        <p:blipFill>
          <a:blip r:embed="rId2"/>
          <a:stretch/>
        </p:blipFill>
        <p:spPr>
          <a:xfrm>
            <a:off x="59040" y="66960"/>
            <a:ext cx="1271880" cy="446400"/>
          </a:xfrm>
          <a:prstGeom prst="rect">
            <a:avLst/>
          </a:prstGeom>
          <a:ln w="0">
            <a:noFill/>
          </a:ln>
        </p:spPr>
      </p:pic>
      <p:pic>
        <p:nvPicPr>
          <p:cNvPr id="229" name="" descr=""/>
          <p:cNvPicPr/>
          <p:nvPr/>
        </p:nvPicPr>
        <p:blipFill>
          <a:blip r:embed="rId3"/>
          <a:stretch/>
        </p:blipFill>
        <p:spPr>
          <a:xfrm>
            <a:off x="7955280" y="9720"/>
            <a:ext cx="2097360" cy="53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0"/>
          <p:cNvSpPr/>
          <p:nvPr/>
        </p:nvSpPr>
        <p:spPr>
          <a:xfrm>
            <a:off x="2232720" y="24840"/>
            <a:ext cx="5254920" cy="456120"/>
          </a:xfrm>
          <a:custGeom>
            <a:avLst/>
            <a:gdLst>
              <a:gd name="textAreaLeft" fmla="*/ 0 w 5254920"/>
              <a:gd name="textAreaRight" fmla="*/ 5256000 w 5254920"/>
              <a:gd name="textAreaTop" fmla="*/ 0 h 456120"/>
              <a:gd name="textAreaBottom" fmla="*/ 457200 h 4561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  <a:spcBef>
                <a:spcPts val="11"/>
              </a:spcBef>
              <a:spcAft>
                <a:spcPts val="11"/>
              </a:spcAft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Multi-Omics begins: 2015 – until now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31" name="Group 7"/>
          <p:cNvGrpSpPr/>
          <p:nvPr/>
        </p:nvGrpSpPr>
        <p:grpSpPr>
          <a:xfrm>
            <a:off x="5821200" y="640080"/>
            <a:ext cx="4190040" cy="2729160"/>
            <a:chOff x="5821200" y="640080"/>
            <a:chExt cx="4190040" cy="2729160"/>
          </a:xfrm>
        </p:grpSpPr>
        <p:pic>
          <p:nvPicPr>
            <p:cNvPr id="232" name="" descr=""/>
            <p:cNvPicPr/>
            <p:nvPr/>
          </p:nvPicPr>
          <p:blipFill>
            <a:blip r:embed="rId1"/>
            <a:srcRect l="0" t="0" r="16632" b="0"/>
            <a:stretch/>
          </p:blipFill>
          <p:spPr>
            <a:xfrm>
              <a:off x="5821200" y="640080"/>
              <a:ext cx="3894840" cy="2471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33" name="CustomShape 11"/>
            <p:cNvSpPr/>
            <p:nvPr/>
          </p:nvSpPr>
          <p:spPr>
            <a:xfrm>
              <a:off x="6054840" y="3165840"/>
              <a:ext cx="3956400" cy="203400"/>
            </a:xfrm>
            <a:custGeom>
              <a:avLst/>
              <a:gdLst>
                <a:gd name="textAreaLeft" fmla="*/ 0 w 3956400"/>
                <a:gd name="textAreaRight" fmla="*/ 3957480 w 3956400"/>
                <a:gd name="textAreaTop" fmla="*/ 0 h 203400"/>
                <a:gd name="textAreaBottom" fmla="*/ 204480 h 20340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 algn="ctr"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</a:pPr>
              <a:r>
                <a:rPr b="0" lang="en-US" sz="11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https://github.com/NBISweden/workshop_omics_integration</a:t>
              </a:r>
              <a:endParaRPr b="0" lang="en-US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4" name="Group 10"/>
          <p:cNvGrpSpPr/>
          <p:nvPr/>
        </p:nvGrpSpPr>
        <p:grpSpPr>
          <a:xfrm>
            <a:off x="290520" y="2925720"/>
            <a:ext cx="5107320" cy="2697840"/>
            <a:chOff x="290520" y="2925720"/>
            <a:chExt cx="5107320" cy="2697840"/>
          </a:xfrm>
        </p:grpSpPr>
        <p:pic>
          <p:nvPicPr>
            <p:cNvPr id="235" name="" descr=""/>
            <p:cNvPicPr/>
            <p:nvPr/>
          </p:nvPicPr>
          <p:blipFill>
            <a:blip r:embed="rId2"/>
            <a:srcRect l="3531" t="32189" r="38394" b="9739"/>
            <a:stretch/>
          </p:blipFill>
          <p:spPr>
            <a:xfrm>
              <a:off x="290520" y="2925720"/>
              <a:ext cx="4887000" cy="26866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36" name="CustomShape 12"/>
            <p:cNvSpPr/>
            <p:nvPr/>
          </p:nvSpPr>
          <p:spPr>
            <a:xfrm>
              <a:off x="3691080" y="5203800"/>
              <a:ext cx="1706760" cy="419760"/>
            </a:xfrm>
            <a:custGeom>
              <a:avLst/>
              <a:gdLst>
                <a:gd name="textAreaLeft" fmla="*/ 0 w 1706760"/>
                <a:gd name="textAreaRight" fmla="*/ 1707840 w 1706760"/>
                <a:gd name="textAreaTop" fmla="*/ 0 h 419760"/>
                <a:gd name="textAreaBottom" fmla="*/ 420840 h 41976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>
                <a:lnSpc>
                  <a:spcPct val="93000"/>
                </a:lnSpc>
                <a:spcBef>
                  <a:spcPts val="11"/>
                </a:spcBef>
                <a:spcAft>
                  <a:spcPts val="11"/>
                </a:spcAft>
              </a:pPr>
              <a:r>
                <a:rPr b="1" lang="en-US" sz="9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Rönn et al., </a:t>
              </a:r>
              <a:br>
                <a:rPr sz="1800"/>
              </a:br>
              <a:r>
                <a:rPr b="1" lang="en-US" sz="9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Scientific Reports 2024</a:t>
              </a:r>
              <a:endParaRPr b="0" lang="en-US" sz="9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37" name="" descr=""/>
          <p:cNvPicPr/>
          <p:nvPr/>
        </p:nvPicPr>
        <p:blipFill>
          <a:blip r:embed="rId3"/>
          <a:srcRect l="0" t="5211" r="0" b="2263"/>
          <a:stretch/>
        </p:blipFill>
        <p:spPr>
          <a:xfrm>
            <a:off x="282600" y="657360"/>
            <a:ext cx="5271120" cy="2192760"/>
          </a:xfrm>
          <a:prstGeom prst="rect">
            <a:avLst/>
          </a:prstGeom>
          <a:ln w="0">
            <a:noFill/>
          </a:ln>
        </p:spPr>
      </p:pic>
      <p:sp>
        <p:nvSpPr>
          <p:cNvPr id="238" name="CustomShape 13"/>
          <p:cNvSpPr/>
          <p:nvPr/>
        </p:nvSpPr>
        <p:spPr>
          <a:xfrm>
            <a:off x="3425760" y="2874960"/>
            <a:ext cx="2194560" cy="288000"/>
          </a:xfrm>
          <a:custGeom>
            <a:avLst/>
            <a:gdLst>
              <a:gd name="textAreaLeft" fmla="*/ 0 w 2194560"/>
              <a:gd name="textAreaRight" fmla="*/ 2195640 w 2194560"/>
              <a:gd name="textAreaTop" fmla="*/ 0 h 288000"/>
              <a:gd name="textAreaBottom" fmla="*/ 289080 h 2880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Yugi et al., Trends Biotechnol. 2016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9" name="" descr=""/>
          <p:cNvPicPr/>
          <p:nvPr/>
        </p:nvPicPr>
        <p:blipFill>
          <a:blip r:embed="rId4"/>
          <a:srcRect l="5464" t="19225" r="6582" b="20196"/>
          <a:stretch/>
        </p:blipFill>
        <p:spPr>
          <a:xfrm>
            <a:off x="8193960" y="36360"/>
            <a:ext cx="1838880" cy="424080"/>
          </a:xfrm>
          <a:prstGeom prst="rect">
            <a:avLst/>
          </a:prstGeom>
          <a:ln w="0">
            <a:noFill/>
          </a:ln>
        </p:spPr>
      </p:pic>
      <p:pic>
        <p:nvPicPr>
          <p:cNvPr id="240" name="" descr=""/>
          <p:cNvPicPr/>
          <p:nvPr/>
        </p:nvPicPr>
        <p:blipFill>
          <a:blip r:embed="rId5"/>
          <a:stretch/>
        </p:blipFill>
        <p:spPr>
          <a:xfrm>
            <a:off x="69840" y="36720"/>
            <a:ext cx="567720" cy="518400"/>
          </a:xfrm>
          <a:prstGeom prst="rect">
            <a:avLst/>
          </a:prstGeom>
          <a:ln w="0">
            <a:noFill/>
          </a:ln>
        </p:spPr>
      </p:pic>
      <p:grpSp>
        <p:nvGrpSpPr>
          <p:cNvPr id="241" name="Group 11"/>
          <p:cNvGrpSpPr/>
          <p:nvPr/>
        </p:nvGrpSpPr>
        <p:grpSpPr>
          <a:xfrm>
            <a:off x="5476320" y="3490560"/>
            <a:ext cx="4547880" cy="1933200"/>
            <a:chOff x="5476320" y="3490560"/>
            <a:chExt cx="4547880" cy="1933200"/>
          </a:xfrm>
        </p:grpSpPr>
        <p:pic>
          <p:nvPicPr>
            <p:cNvPr id="242" name="" descr=""/>
            <p:cNvPicPr/>
            <p:nvPr/>
          </p:nvPicPr>
          <p:blipFill>
            <a:blip r:embed="rId6"/>
            <a:srcRect l="8969" t="17662" r="42004" b="67724"/>
            <a:stretch/>
          </p:blipFill>
          <p:spPr>
            <a:xfrm>
              <a:off x="5563440" y="4231800"/>
              <a:ext cx="4365360" cy="6750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43" name="" descr=""/>
            <p:cNvPicPr/>
            <p:nvPr/>
          </p:nvPicPr>
          <p:blipFill>
            <a:blip r:embed="rId7"/>
            <a:stretch/>
          </p:blipFill>
          <p:spPr>
            <a:xfrm>
              <a:off x="8334720" y="3490560"/>
              <a:ext cx="1562400" cy="6638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44" name="CustomShape 14"/>
            <p:cNvSpPr/>
            <p:nvPr/>
          </p:nvSpPr>
          <p:spPr>
            <a:xfrm>
              <a:off x="5476320" y="3541320"/>
              <a:ext cx="1954080" cy="36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85"/>
                </a:spcBef>
                <a:spcAft>
                  <a:spcPts val="85"/>
                </a:spcAft>
              </a:pPr>
              <a:r>
                <a:rPr b="1" lang="en-US" sz="1800" spc="-1" strike="noStrike">
                  <a:solidFill>
                    <a:srgbClr val="ff0000"/>
                  </a:solidFill>
                  <a:latin typeface="Arial"/>
                  <a:ea typeface="DejaVu Sans"/>
                </a:rPr>
                <a:t>The course was purchased by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5" name="CustomShape 15"/>
            <p:cNvSpPr/>
            <p:nvPr/>
          </p:nvSpPr>
          <p:spPr>
            <a:xfrm>
              <a:off x="5585760" y="4975920"/>
              <a:ext cx="4438440" cy="447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spcBef>
                  <a:spcPts val="85"/>
                </a:spcBef>
                <a:spcAft>
                  <a:spcPts val="85"/>
                </a:spcAft>
              </a:pPr>
              <a:r>
                <a:rPr b="0" lang="en-US" sz="1200" spc="-1" strike="noStrike">
                  <a:solidFill>
                    <a:srgbClr val="ff0000"/>
                  </a:solidFill>
                  <a:latin typeface="Arial"/>
                  <a:ea typeface="DejaVu Sans"/>
                </a:rPr>
                <a:t>Last runs: February 2023 (online), 94 applications</a:t>
              </a:r>
              <a:br>
                <a:rPr sz="1200"/>
              </a:br>
              <a:r>
                <a:rPr b="0" lang="en-US" sz="1200" spc="-1" strike="noStrike">
                  <a:solidFill>
                    <a:srgbClr val="ff0000"/>
                  </a:solidFill>
                  <a:latin typeface="Arial"/>
                  <a:ea typeface="DejaVu Sans"/>
                </a:rPr>
                <a:t>                 October  2024  (onsite), 49 applications</a:t>
              </a:r>
              <a:br>
                <a:rPr sz="1200"/>
              </a:br>
              <a:r>
                <a:rPr b="0" lang="en-US" sz="1200" spc="-1" strike="noStrike">
                  <a:solidFill>
                    <a:srgbClr val="ff0000"/>
                  </a:solidFill>
                  <a:latin typeface="Arial"/>
                  <a:ea typeface="DejaVu Sans"/>
                </a:rPr>
                <a:t>                 February 2025 (online), 123 applications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46" name="" descr=""/>
            <p:cNvPicPr/>
            <p:nvPr/>
          </p:nvPicPr>
          <p:blipFill>
            <a:blip r:embed="rId8"/>
            <a:stretch/>
          </p:blipFill>
          <p:spPr>
            <a:xfrm>
              <a:off x="7398720" y="3520800"/>
              <a:ext cx="942840" cy="66996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" dur="indefinite" restart="never" nodeType="tmRoot">
          <p:childTnLst>
            <p:seq>
              <p:cTn id="1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CustomShape 23"/>
          <p:cNvSpPr/>
          <p:nvPr/>
        </p:nvSpPr>
        <p:spPr>
          <a:xfrm>
            <a:off x="2223360" y="70920"/>
            <a:ext cx="5254920" cy="454320"/>
          </a:xfrm>
          <a:custGeom>
            <a:avLst/>
            <a:gdLst>
              <a:gd name="textAreaLeft" fmla="*/ 0 w 5254920"/>
              <a:gd name="textAreaRight" fmla="*/ 5256360 w 5254920"/>
              <a:gd name="textAreaTop" fmla="*/ 0 h 454320"/>
              <a:gd name="textAreaBottom" fmla="*/ 455760 h 4543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Course outline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CustomShape 24"/>
          <p:cNvSpPr/>
          <p:nvPr/>
        </p:nvSpPr>
        <p:spPr>
          <a:xfrm>
            <a:off x="701280" y="753840"/>
            <a:ext cx="8780760" cy="23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</a:pPr>
            <a:r>
              <a:rPr b="0" lang="en-US" sz="1800" spc="-1" strike="noStrike">
                <a:solidFill>
                  <a:srgbClr val="ff6347"/>
                </a:solidFill>
                <a:latin typeface="Arial"/>
                <a:ea typeface="DejaVu Sans"/>
              </a:rPr>
              <a:t>Day 1: introduction of machine learning concepts for data integration, feature selection and supervised Omics integration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en-US" sz="1800" spc="-1" strike="noStrike">
                <a:solidFill>
                  <a:srgbClr val="ff6347"/>
                </a:solidFill>
                <a:latin typeface="Arial"/>
                <a:ea typeface="DejaVu Sans"/>
              </a:rPr>
              <a:t>Day2: unsupervised Omics integration, factor analysis and graph intersection, neural networks for Omics integration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en-US" sz="1800" spc="-1" strike="noStrike">
                <a:solidFill>
                  <a:srgbClr val="ff6347"/>
                </a:solidFill>
                <a:latin typeface="Arial"/>
                <a:ea typeface="DejaVu Sans"/>
              </a:rPr>
              <a:t>Day3: dimension reduction methods and UMAP for Omics integration, horizontal and vertical integration of single cell 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9" name="" descr=""/>
          <p:cNvPicPr/>
          <p:nvPr/>
        </p:nvPicPr>
        <p:blipFill>
          <a:blip r:embed="rId1"/>
          <a:stretch/>
        </p:blipFill>
        <p:spPr>
          <a:xfrm>
            <a:off x="4280400" y="3511080"/>
            <a:ext cx="1470960" cy="1707480"/>
          </a:xfrm>
          <a:prstGeom prst="rect">
            <a:avLst/>
          </a:prstGeom>
          <a:ln w="0">
            <a:noFill/>
          </a:ln>
        </p:spPr>
      </p:pic>
      <p:pic>
        <p:nvPicPr>
          <p:cNvPr id="250" name="" descr=""/>
          <p:cNvPicPr/>
          <p:nvPr/>
        </p:nvPicPr>
        <p:blipFill>
          <a:blip r:embed="rId2"/>
          <a:stretch/>
        </p:blipFill>
        <p:spPr>
          <a:xfrm>
            <a:off x="2434320" y="3490200"/>
            <a:ext cx="1800720" cy="1728360"/>
          </a:xfrm>
          <a:prstGeom prst="rect">
            <a:avLst/>
          </a:prstGeom>
          <a:ln w="0">
            <a:noFill/>
          </a:ln>
        </p:spPr>
      </p:pic>
      <p:pic>
        <p:nvPicPr>
          <p:cNvPr id="251" name="" descr=""/>
          <p:cNvPicPr/>
          <p:nvPr/>
        </p:nvPicPr>
        <p:blipFill>
          <a:blip r:embed="rId3"/>
          <a:srcRect l="29608" t="9218" r="26150" b="308"/>
          <a:stretch/>
        </p:blipFill>
        <p:spPr>
          <a:xfrm>
            <a:off x="5814720" y="3428640"/>
            <a:ext cx="1702080" cy="1789920"/>
          </a:xfrm>
          <a:prstGeom prst="rect">
            <a:avLst/>
          </a:prstGeom>
          <a:ln w="0">
            <a:noFill/>
          </a:ln>
        </p:spPr>
      </p:pic>
      <p:pic>
        <p:nvPicPr>
          <p:cNvPr id="252" name="" descr=""/>
          <p:cNvPicPr/>
          <p:nvPr/>
        </p:nvPicPr>
        <p:blipFill>
          <a:blip r:embed="rId4"/>
          <a:srcRect l="59374" t="47766" r="8045" b="7356"/>
          <a:stretch/>
        </p:blipFill>
        <p:spPr>
          <a:xfrm>
            <a:off x="6480" y="3471480"/>
            <a:ext cx="2368080" cy="1905480"/>
          </a:xfrm>
          <a:prstGeom prst="rect">
            <a:avLst/>
          </a:prstGeom>
          <a:ln w="0">
            <a:noFill/>
          </a:ln>
        </p:spPr>
      </p:pic>
      <p:pic>
        <p:nvPicPr>
          <p:cNvPr id="253" name="" descr=""/>
          <p:cNvPicPr/>
          <p:nvPr/>
        </p:nvPicPr>
        <p:blipFill>
          <a:blip r:embed="rId5"/>
          <a:stretch/>
        </p:blipFill>
        <p:spPr>
          <a:xfrm>
            <a:off x="7500960" y="3438720"/>
            <a:ext cx="2503440" cy="1871280"/>
          </a:xfrm>
          <a:prstGeom prst="rect">
            <a:avLst/>
          </a:prstGeom>
          <a:ln w="0">
            <a:noFill/>
          </a:ln>
        </p:spPr>
      </p:pic>
      <p:pic>
        <p:nvPicPr>
          <p:cNvPr id="254" name="" descr=""/>
          <p:cNvPicPr/>
          <p:nvPr/>
        </p:nvPicPr>
        <p:blipFill>
          <a:blip r:embed="rId6"/>
          <a:stretch/>
        </p:blipFill>
        <p:spPr>
          <a:xfrm>
            <a:off x="59400" y="67320"/>
            <a:ext cx="1271880" cy="446400"/>
          </a:xfrm>
          <a:prstGeom prst="rect">
            <a:avLst/>
          </a:prstGeom>
          <a:ln w="0">
            <a:noFill/>
          </a:ln>
        </p:spPr>
      </p:pic>
      <p:pic>
        <p:nvPicPr>
          <p:cNvPr id="255" name="" descr=""/>
          <p:cNvPicPr/>
          <p:nvPr/>
        </p:nvPicPr>
        <p:blipFill>
          <a:blip r:embed="rId7"/>
          <a:stretch/>
        </p:blipFill>
        <p:spPr>
          <a:xfrm>
            <a:off x="7955640" y="10080"/>
            <a:ext cx="2097360" cy="53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" descr=""/>
          <p:cNvPicPr/>
          <p:nvPr/>
        </p:nvPicPr>
        <p:blipFill>
          <a:blip r:embed="rId1"/>
          <a:stretch/>
        </p:blipFill>
        <p:spPr>
          <a:xfrm>
            <a:off x="59760" y="67680"/>
            <a:ext cx="1271880" cy="446400"/>
          </a:xfrm>
          <a:prstGeom prst="rect">
            <a:avLst/>
          </a:prstGeom>
          <a:ln w="0">
            <a:noFill/>
          </a:ln>
        </p:spPr>
      </p:pic>
      <p:pic>
        <p:nvPicPr>
          <p:cNvPr id="257" name="" descr=""/>
          <p:cNvPicPr/>
          <p:nvPr/>
        </p:nvPicPr>
        <p:blipFill>
          <a:blip r:embed="rId2"/>
          <a:stretch/>
        </p:blipFill>
        <p:spPr>
          <a:xfrm>
            <a:off x="7956000" y="10440"/>
            <a:ext cx="2097360" cy="530640"/>
          </a:xfrm>
          <a:prstGeom prst="rect">
            <a:avLst/>
          </a:prstGeom>
          <a:ln w="0">
            <a:noFill/>
          </a:ln>
        </p:spPr>
      </p:pic>
      <p:sp>
        <p:nvSpPr>
          <p:cNvPr id="258" name="CustomShape 4"/>
          <p:cNvSpPr/>
          <p:nvPr/>
        </p:nvSpPr>
        <p:spPr>
          <a:xfrm>
            <a:off x="2223720" y="70920"/>
            <a:ext cx="5254920" cy="454320"/>
          </a:xfrm>
          <a:custGeom>
            <a:avLst/>
            <a:gdLst>
              <a:gd name="textAreaLeft" fmla="*/ 0 w 5254920"/>
              <a:gd name="textAreaRight" fmla="*/ 5256360 w 5254920"/>
              <a:gd name="textAreaTop" fmla="*/ 0 h 454320"/>
              <a:gd name="textAreaBottom" fmla="*/ 455760 h 4543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Course program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9" name="" descr=""/>
          <p:cNvPicPr/>
          <p:nvPr/>
        </p:nvPicPr>
        <p:blipFill>
          <a:blip r:embed="rId3"/>
          <a:stretch/>
        </p:blipFill>
        <p:spPr>
          <a:xfrm>
            <a:off x="1625400" y="515880"/>
            <a:ext cx="6629040" cy="5154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" descr=""/>
          <p:cNvPicPr/>
          <p:nvPr/>
        </p:nvPicPr>
        <p:blipFill>
          <a:blip r:embed="rId1"/>
          <a:stretch/>
        </p:blipFill>
        <p:spPr>
          <a:xfrm>
            <a:off x="58680" y="120600"/>
            <a:ext cx="1275480" cy="450000"/>
          </a:xfrm>
          <a:prstGeom prst="rect">
            <a:avLst/>
          </a:prstGeom>
          <a:ln w="0">
            <a:noFill/>
          </a:ln>
        </p:spPr>
      </p:pic>
      <p:pic>
        <p:nvPicPr>
          <p:cNvPr id="261" name="" descr=""/>
          <p:cNvPicPr/>
          <p:nvPr/>
        </p:nvPicPr>
        <p:blipFill>
          <a:blip r:embed="rId2"/>
          <a:stretch/>
        </p:blipFill>
        <p:spPr>
          <a:xfrm>
            <a:off x="7955280" y="98280"/>
            <a:ext cx="2100960" cy="534240"/>
          </a:xfrm>
          <a:prstGeom prst="rect">
            <a:avLst/>
          </a:prstGeom>
          <a:ln w="0">
            <a:noFill/>
          </a:ln>
        </p:spPr>
      </p:pic>
      <p:sp>
        <p:nvSpPr>
          <p:cNvPr id="262" name="CustomShape 25"/>
          <p:cNvSpPr/>
          <p:nvPr/>
        </p:nvSpPr>
        <p:spPr>
          <a:xfrm>
            <a:off x="2251080" y="63360"/>
            <a:ext cx="5254200" cy="454680"/>
          </a:xfrm>
          <a:custGeom>
            <a:avLst/>
            <a:gdLst>
              <a:gd name="textAreaLeft" fmla="*/ 0 w 5254200"/>
              <a:gd name="textAreaRight" fmla="*/ 5255640 w 5254200"/>
              <a:gd name="textAreaTop" fmla="*/ 0 h 454680"/>
              <a:gd name="textAreaBottom" fmla="*/ 456120 h 4546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Housekeeping rules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CustomShape 26"/>
          <p:cNvSpPr/>
          <p:nvPr/>
        </p:nvSpPr>
        <p:spPr>
          <a:xfrm>
            <a:off x="543240" y="811800"/>
            <a:ext cx="8840160" cy="4501800"/>
          </a:xfrm>
          <a:custGeom>
            <a:avLst/>
            <a:gdLst>
              <a:gd name="textAreaLeft" fmla="*/ 0 w 8840160"/>
              <a:gd name="textAreaRight" fmla="*/ 8841600 w 8840160"/>
              <a:gd name="textAreaTop" fmla="*/ 0 h 4501800"/>
              <a:gd name="textAreaBottom" fmla="*/ 4503240 h 45018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528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Please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ask your questions anytime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, it is ok to interrupt me, or you can raise your hand and ask. You can also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ask questions in the slack workspace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for this course.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528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The course includes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6 lectures (~1 h each) and 7 practicals (~1 h each)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, there is a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15-20 min break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after each lecture and each practical. We can potentially make longer breaks if needed.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528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During practicals, we will use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Rmarkdown and Jupyter notebooks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. At the end of each practical, I will use rendered html-versions of the notebooks to go through command lines with my explanations.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528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The material is based on data and problems from </a:t>
            </a: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computational biology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, however the concepts discussed are general and can be applied for other types of data.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27"/>
          <p:cNvSpPr/>
          <p:nvPr/>
        </p:nvSpPr>
        <p:spPr>
          <a:xfrm>
            <a:off x="1746720" y="9720"/>
            <a:ext cx="5937480" cy="454320"/>
          </a:xfrm>
          <a:custGeom>
            <a:avLst/>
            <a:gdLst>
              <a:gd name="textAreaLeft" fmla="*/ 0 w 5937480"/>
              <a:gd name="textAreaRight" fmla="*/ 5938920 w 5937480"/>
              <a:gd name="textAreaTop" fmla="*/ 0 h 454320"/>
              <a:gd name="textAreaBottom" fmla="*/ 455760 h 4543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Practical information: GitHub and Rstudio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CustomShape 28"/>
          <p:cNvSpPr/>
          <p:nvPr/>
        </p:nvSpPr>
        <p:spPr>
          <a:xfrm>
            <a:off x="1051920" y="1005840"/>
            <a:ext cx="8319960" cy="29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The course will take place</a:t>
            </a: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 from 2 pm to 7 pm (Berlin time)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Links to the Rstudio server will be posted in the Slack channel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800"/>
            </a:b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The course GitHub repository containing lectures and exercises is: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800"/>
            </a:br>
            <a:r>
              <a:rPr b="1" lang="en-US" sz="18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https://github.com/NikolayOskolkov/Physalia_MLOmicsIntegration_2026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Please bookmark this address!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6" name="" descr=""/>
          <p:cNvPicPr/>
          <p:nvPr/>
        </p:nvPicPr>
        <p:blipFill>
          <a:blip r:embed="rId1"/>
          <a:srcRect l="13005" t="4535" r="5120" b="4560"/>
          <a:stretch/>
        </p:blipFill>
        <p:spPr>
          <a:xfrm>
            <a:off x="25200" y="4523040"/>
            <a:ext cx="1800720" cy="1124280"/>
          </a:xfrm>
          <a:prstGeom prst="rect">
            <a:avLst/>
          </a:prstGeom>
          <a:ln w="0">
            <a:noFill/>
          </a:ln>
        </p:spPr>
      </p:pic>
      <p:pic>
        <p:nvPicPr>
          <p:cNvPr id="267" name="" descr=""/>
          <p:cNvPicPr/>
          <p:nvPr/>
        </p:nvPicPr>
        <p:blipFill>
          <a:blip r:embed="rId2"/>
          <a:stretch/>
        </p:blipFill>
        <p:spPr>
          <a:xfrm>
            <a:off x="59400" y="67320"/>
            <a:ext cx="1271880" cy="446400"/>
          </a:xfrm>
          <a:prstGeom prst="rect">
            <a:avLst/>
          </a:prstGeom>
          <a:ln w="0">
            <a:noFill/>
          </a:ln>
        </p:spPr>
      </p:pic>
      <p:pic>
        <p:nvPicPr>
          <p:cNvPr id="268" name="" descr=""/>
          <p:cNvPicPr/>
          <p:nvPr/>
        </p:nvPicPr>
        <p:blipFill>
          <a:blip r:embed="rId3"/>
          <a:stretch/>
        </p:blipFill>
        <p:spPr>
          <a:xfrm>
            <a:off x="7955640" y="10080"/>
            <a:ext cx="2097360" cy="53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" descr=""/>
          <p:cNvPicPr/>
          <p:nvPr/>
        </p:nvPicPr>
        <p:blipFill>
          <a:blip r:embed="rId1"/>
          <a:stretch/>
        </p:blipFill>
        <p:spPr>
          <a:xfrm>
            <a:off x="601200" y="26640"/>
            <a:ext cx="8915040" cy="557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" descr=""/>
          <p:cNvPicPr/>
          <p:nvPr/>
        </p:nvPicPr>
        <p:blipFill>
          <a:blip r:embed="rId1"/>
          <a:srcRect l="0" t="4784" r="93" b="59090"/>
          <a:stretch/>
        </p:blipFill>
        <p:spPr>
          <a:xfrm>
            <a:off x="9360" y="274320"/>
            <a:ext cx="10067400" cy="2041920"/>
          </a:xfrm>
          <a:prstGeom prst="rect">
            <a:avLst/>
          </a:prstGeom>
          <a:ln w="0">
            <a:noFill/>
          </a:ln>
        </p:spPr>
      </p:pic>
      <p:pic>
        <p:nvPicPr>
          <p:cNvPr id="271" name="" descr=""/>
          <p:cNvPicPr/>
          <p:nvPr/>
        </p:nvPicPr>
        <p:blipFill>
          <a:blip r:embed="rId2"/>
          <a:srcRect l="13005" t="4535" r="5120" b="4560"/>
          <a:stretch/>
        </p:blipFill>
        <p:spPr>
          <a:xfrm>
            <a:off x="25200" y="4523400"/>
            <a:ext cx="1800720" cy="1124280"/>
          </a:xfrm>
          <a:prstGeom prst="rect">
            <a:avLst/>
          </a:prstGeom>
          <a:ln w="0">
            <a:noFill/>
          </a:ln>
        </p:spPr>
      </p:pic>
      <p:pic>
        <p:nvPicPr>
          <p:cNvPr id="272" name="" descr=""/>
          <p:cNvPicPr/>
          <p:nvPr/>
        </p:nvPicPr>
        <p:blipFill>
          <a:blip r:embed="rId3"/>
          <a:srcRect l="0" t="55318" r="93" b="17771"/>
          <a:stretch/>
        </p:blipFill>
        <p:spPr>
          <a:xfrm>
            <a:off x="9360" y="2782080"/>
            <a:ext cx="10067400" cy="1518120"/>
          </a:xfrm>
          <a:prstGeom prst="rect">
            <a:avLst/>
          </a:prstGeom>
          <a:ln w="0">
            <a:noFill/>
          </a:ln>
        </p:spPr>
      </p:pic>
      <p:sp>
        <p:nvSpPr>
          <p:cNvPr id="273" name="CustomShape 29"/>
          <p:cNvSpPr/>
          <p:nvPr/>
        </p:nvSpPr>
        <p:spPr>
          <a:xfrm>
            <a:off x="2926080" y="4574880"/>
            <a:ext cx="6153840" cy="95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However, most of the time you will be using Rstudio server </a:t>
            </a:r>
            <a:br>
              <a:rPr sz="1800"/>
            </a:b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(for R exercises) and Google Colab (for Python exercises)!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CustomShape 30"/>
          <p:cNvSpPr/>
          <p:nvPr/>
        </p:nvSpPr>
        <p:spPr>
          <a:xfrm>
            <a:off x="2491920" y="2394000"/>
            <a:ext cx="550800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ssh -i multiomics.pem -X ubuntu@54.244.40.220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" descr=""/>
          <p:cNvPicPr/>
          <p:nvPr/>
        </p:nvPicPr>
        <p:blipFill>
          <a:blip r:embed="rId1"/>
          <a:stretch/>
        </p:blipFill>
        <p:spPr>
          <a:xfrm>
            <a:off x="9000" y="2880"/>
            <a:ext cx="10078200" cy="5667840"/>
          </a:xfrm>
          <a:prstGeom prst="rect">
            <a:avLst/>
          </a:prstGeom>
          <a:ln w="0">
            <a:noFill/>
          </a:ln>
        </p:spPr>
      </p:pic>
      <p:sp>
        <p:nvSpPr>
          <p:cNvPr id="276" name="CustomShape 31"/>
          <p:cNvSpPr/>
          <p:nvPr/>
        </p:nvSpPr>
        <p:spPr>
          <a:xfrm>
            <a:off x="968400" y="3736800"/>
            <a:ext cx="5429880" cy="18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To connect to Rstudio server type in your browser: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800"/>
            </a:b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http://52.13.75.148:8787/auth-sign-in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Username: ubuntu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Password:  rstudio26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Line 2"/>
          <p:cNvSpPr/>
          <p:nvPr/>
        </p:nvSpPr>
        <p:spPr>
          <a:xfrm flipH="1">
            <a:off x="3036960" y="5029200"/>
            <a:ext cx="1463040" cy="360"/>
          </a:xfrm>
          <a:prstGeom prst="line">
            <a:avLst/>
          </a:prstGeom>
          <a:ln w="183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8" name="CustomShape 32"/>
          <p:cNvSpPr/>
          <p:nvPr/>
        </p:nvSpPr>
        <p:spPr>
          <a:xfrm>
            <a:off x="4522320" y="4865760"/>
            <a:ext cx="507780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rial"/>
                <a:ea typeface="DejaVu Sans"/>
              </a:rPr>
              <a:t>Please provide your username, e.g. user1, here!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" descr=""/>
          <p:cNvPicPr/>
          <p:nvPr/>
        </p:nvPicPr>
        <p:blipFill>
          <a:blip r:embed="rId1"/>
          <a:stretch/>
        </p:blipFill>
        <p:spPr>
          <a:xfrm>
            <a:off x="9000" y="2880"/>
            <a:ext cx="10077840" cy="566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CustomShape 33"/>
          <p:cNvSpPr/>
          <p:nvPr/>
        </p:nvSpPr>
        <p:spPr>
          <a:xfrm>
            <a:off x="820080" y="560880"/>
            <a:ext cx="8816760" cy="50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if (!require("BiocManager", quietly = TRUE))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install.packages("BiocManager")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BiocManager::install("mixOmics")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BiocManager::install("MOFA2")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install.packages("rmarkdown")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install.packages("knitr")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install.packages("glmnet")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install.packages("Rtsne")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install.packages("uwot")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BiocManager::install(c('AnnotationFilter','BiocGenerics','GenomeInfoDb',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'GenomicFeatures','GenomicRanges','IRanges','Rsamtools','S4Vectors','TFBSTools',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'ggbio','motifmatchr','AnnotationDbi'))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install.packages("Seurat", dependencies = TRUE)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install.packages("Signac", dependencies = TRUE)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CustomShape 34"/>
          <p:cNvSpPr/>
          <p:nvPr/>
        </p:nvSpPr>
        <p:spPr>
          <a:xfrm>
            <a:off x="2011320" y="25920"/>
            <a:ext cx="5937480" cy="454320"/>
          </a:xfrm>
          <a:custGeom>
            <a:avLst/>
            <a:gdLst>
              <a:gd name="textAreaLeft" fmla="*/ 0 w 5937480"/>
              <a:gd name="textAreaRight" fmla="*/ 5938920 w 5937480"/>
              <a:gd name="textAreaTop" fmla="*/ 0 h 454320"/>
              <a:gd name="textAreaBottom" fmla="*/ 455760 h 4543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64800" bIns="45000" anchor="t">
            <a:noAutofit/>
          </a:bodyPr>
          <a:p>
            <a:pPr algn="ctr">
              <a:lnSpc>
                <a:spcPct val="94000"/>
              </a:lnSpc>
            </a:pPr>
            <a:r>
              <a:rPr b="0" lang="en-US" sz="2600" spc="-1" strike="noStrike">
                <a:solidFill>
                  <a:srgbClr val="0066cc"/>
                </a:solidFill>
                <a:latin typeface="Arial"/>
                <a:ea typeface="DejaVu Sans"/>
              </a:rPr>
              <a:t>Plan B (in case of network problems): install locally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CustomShape 35"/>
          <p:cNvSpPr/>
          <p:nvPr/>
        </p:nvSpPr>
        <p:spPr>
          <a:xfrm>
            <a:off x="454320" y="272880"/>
            <a:ext cx="9603360" cy="46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To run Jupyter notebooks on Google Colab please do the following: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1. Clone this repo: https://github.com/NikolayOskolkov/Physalia_MLOmicsIntegration_2026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2. Unzip the data.zip folder locally and upload it to your Google drive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3. Start the Jupyter notebook from the Google drive and mount your google drive: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#Mount Google Drive to Colab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800"/>
            </a:b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from google.colab import drive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drive.mount('/content/drive')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800"/>
            </a:b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!ls -l /content/drive/MyDrive/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800"/>
            </a:b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import 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950e"/>
                </a:solidFill>
                <a:latin typeface="Arial"/>
                <a:ea typeface="DejaVu Sans"/>
              </a:rPr>
              <a:t>os.chdir("/content/drive/MyDrive/data")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3" name="" descr=""/>
          <p:cNvPicPr/>
          <p:nvPr/>
        </p:nvPicPr>
        <p:blipFill>
          <a:blip r:embed="rId1"/>
          <a:srcRect l="13005" t="4535" r="5120" b="4560"/>
          <a:stretch/>
        </p:blipFill>
        <p:spPr>
          <a:xfrm>
            <a:off x="25200" y="4523040"/>
            <a:ext cx="1800720" cy="1124280"/>
          </a:xfrm>
          <a:prstGeom prst="rect">
            <a:avLst/>
          </a:prstGeom>
          <a:ln w="0">
            <a:noFill/>
          </a:ln>
        </p:spPr>
      </p:pic>
      <p:sp>
        <p:nvSpPr>
          <p:cNvPr id="284" name="CustomShape 36"/>
          <p:cNvSpPr/>
          <p:nvPr/>
        </p:nvSpPr>
        <p:spPr>
          <a:xfrm>
            <a:off x="5497920" y="2695680"/>
            <a:ext cx="42184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f420e"/>
                </a:solidFill>
                <a:latin typeface="Arial"/>
                <a:ea typeface="DejaVu Sans"/>
              </a:rPr>
              <a:t>N.B. you need a Google account</a:t>
            </a:r>
            <a:br>
              <a:rPr sz="1800"/>
            </a:br>
            <a:r>
              <a:rPr b="0" lang="en-US" sz="2200" spc="-1" strike="noStrike">
                <a:solidFill>
                  <a:srgbClr val="ff420e"/>
                </a:solidFill>
                <a:latin typeface="Arial"/>
                <a:ea typeface="DejaVu Sans"/>
              </a:rPr>
              <a:t>to be able to run Google Colab!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" descr=""/>
          <p:cNvPicPr/>
          <p:nvPr/>
        </p:nvPicPr>
        <p:blipFill>
          <a:blip r:embed="rId1"/>
          <a:stretch/>
        </p:blipFill>
        <p:spPr>
          <a:xfrm>
            <a:off x="9000" y="2880"/>
            <a:ext cx="10077840" cy="566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" descr=""/>
          <p:cNvPicPr/>
          <p:nvPr/>
        </p:nvPicPr>
        <p:blipFill>
          <a:blip r:embed="rId1"/>
          <a:stretch/>
        </p:blipFill>
        <p:spPr>
          <a:xfrm>
            <a:off x="9000" y="2880"/>
            <a:ext cx="10077840" cy="566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6598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2024-11-07T19:18:06Z</dcterms:created>
  <dc:creator>Nikolay Oskolkov</dc:creator>
  <dc:description/>
  <dc:language>en-US</dc:language>
  <cp:lastModifiedBy/>
  <cp:lastPrinted>2025-12-14T08:46:31Z</cp:lastPrinted>
  <dcterms:modified xsi:type="dcterms:W3CDTF">2026-09-21T09:14:00Z</dcterms:modified>
  <cp:revision>73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